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2e92214b384827" /><Relationship Type="http://schemas.openxmlformats.org/officeDocument/2006/relationships/extended-properties" Target="/docProps/app.xml" Id="Rd68d413f312d46f8" /><Relationship Type="http://schemas.openxmlformats.org/officeDocument/2006/relationships/officeDocument" Target="/ppt/presentation.xml" Id="Rd6ffc9da8feb40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91cf96ff424596"/>
  </p:sldMasterIdLst>
  <p:notesMasterIdLst>
    <p:notesMasterId xmlns:r="http://schemas.openxmlformats.org/officeDocument/2006/relationships" r:id="R0bc08bdbe66a42ac"/>
  </p:notesMasterIdLst>
  <p:sldIdLst>
    <p:sldId xmlns:r="http://schemas.openxmlformats.org/officeDocument/2006/relationships" id="256" r:id="Rd6fca9fde0504874"/>
    <p:sldId xmlns:r="http://schemas.openxmlformats.org/officeDocument/2006/relationships" id="257" r:id="Ra6a528e8ed56430c"/>
    <p:sldId xmlns:r="http://schemas.openxmlformats.org/officeDocument/2006/relationships" id="258" r:id="Ra601847460b24689"/>
    <p:sldId xmlns:r="http://schemas.openxmlformats.org/officeDocument/2006/relationships" id="259" r:id="R85b87065168146e6"/>
    <p:sldId xmlns:r="http://schemas.openxmlformats.org/officeDocument/2006/relationships" id="260" r:id="R72eb0a7563cc4c50"/>
    <p:sldId xmlns:r="http://schemas.openxmlformats.org/officeDocument/2006/relationships" id="261" r:id="R1d0f205d22714f50"/>
    <p:sldId xmlns:r="http://schemas.openxmlformats.org/officeDocument/2006/relationships" id="262" r:id="R495dcd1bc412466b"/>
    <p:sldId xmlns:r="http://schemas.openxmlformats.org/officeDocument/2006/relationships" id="263" r:id="Rc23f3f1e57454597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34513a54174b42" /><Relationship Type="http://schemas.openxmlformats.org/officeDocument/2006/relationships/slideMaster" Target="/ppt/slideMasters/slideMaster1.xml" Id="R2491cf96ff424596" /><Relationship Type="http://schemas.openxmlformats.org/officeDocument/2006/relationships/notesMaster" Target="/ppt/notesMasters/notesMaster1.xml" Id="R0bc08bdbe66a42ac" /><Relationship Type="http://schemas.openxmlformats.org/officeDocument/2006/relationships/presProps" Target="/ppt/presProps.xml" Id="R24a87133459b45e9" /><Relationship Type="http://schemas.openxmlformats.org/officeDocument/2006/relationships/viewProps" Target="/ppt/viewProps.xml" Id="Rd8519d1d4ada4a28" /><Relationship Type="http://schemas.openxmlformats.org/officeDocument/2006/relationships/tableStyles" Target="/ppt/tableStyles.xml" Id="R938b464f92b2412d" /><Relationship Type="http://schemas.openxmlformats.org/officeDocument/2006/relationships/slide" Target="/ppt/slides/slide1.xml" Id="Rd6fca9fde0504874" /><Relationship Type="http://schemas.openxmlformats.org/officeDocument/2006/relationships/slide" Target="/ppt/slides/slide2.xml" Id="Ra6a528e8ed56430c" /><Relationship Type="http://schemas.openxmlformats.org/officeDocument/2006/relationships/slide" Target="/ppt/slides/slide3.xml" Id="Ra601847460b24689" /><Relationship Type="http://schemas.openxmlformats.org/officeDocument/2006/relationships/slide" Target="/ppt/slides/slide4.xml" Id="R85b87065168146e6" /><Relationship Type="http://schemas.openxmlformats.org/officeDocument/2006/relationships/slide" Target="/ppt/slides/slide5.xml" Id="R72eb0a7563cc4c50" /><Relationship Type="http://schemas.openxmlformats.org/officeDocument/2006/relationships/slide" Target="/ppt/slides/slide6.xml" Id="R1d0f205d22714f50" /><Relationship Type="http://schemas.openxmlformats.org/officeDocument/2006/relationships/slide" Target="/ppt/slides/slide7.xml" Id="R495dcd1bc412466b" /><Relationship Type="http://schemas.openxmlformats.org/officeDocument/2006/relationships/slide" Target="/ppt/slides/slide8.xml" Id="Rc23f3f1e574545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2e4c3e386d48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894822c27447e4" /><Relationship Type="http://schemas.openxmlformats.org/officeDocument/2006/relationships/notesMaster" Target="/ppt/notesMasters/notesMaster1.xml" Id="Rf043f9a4640743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c8538629ac4e18" /><Relationship Type="http://schemas.openxmlformats.org/officeDocument/2006/relationships/notesMaster" Target="/ppt/notesMasters/notesMaster1.xml" Id="R359599cc57a742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a0a31e0ffd458c" /><Relationship Type="http://schemas.openxmlformats.org/officeDocument/2006/relationships/notesMaster" Target="/ppt/notesMasters/notesMaster1.xml" Id="R29d0f876b7d54d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c76f82be724332" /><Relationship Type="http://schemas.openxmlformats.org/officeDocument/2006/relationships/notesMaster" Target="/ppt/notesMasters/notesMaster1.xml" Id="R7fbade88fd4741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5ea96128744568" /><Relationship Type="http://schemas.openxmlformats.org/officeDocument/2006/relationships/notesMaster" Target="/ppt/notesMasters/notesMaster1.xml" Id="R15b32c802fa14f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be4f430a2148c8" /><Relationship Type="http://schemas.openxmlformats.org/officeDocument/2006/relationships/notesMaster" Target="/ppt/notesMasters/notesMaster1.xml" Id="Re82f160d345343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74a03a2ba54ea6" /><Relationship Type="http://schemas.openxmlformats.org/officeDocument/2006/relationships/notesMaster" Target="/ppt/notesMasters/notesMaster1.xml" Id="R43ce6bf50c9d44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8fe92b530b47f2" /><Relationship Type="http://schemas.openxmlformats.org/officeDocument/2006/relationships/notesMaster" Target="/ppt/notesMasters/notesMaster1.xml" Id="R4cc57ec72dd74e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140c29d3340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bdc8e22d745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228c7af6b4f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f88d92446c4f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e698cf85a943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7c412ae4d49e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e0535c8a534fb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82de0d44fa4dc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8acaab35e472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f107843e2d465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c1ff3de734c2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D2D91-AC41-4A97-842E-5F4C07839A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C57EA04-3B73-4E60-9C95-2C6CAA4956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6ACC3E-45B1-4A40-AB02-7F04F9C07E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67F9F4-FD1E-40AE-8E02-41DF9DBAFD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9DA0C5-2F5E-48B6-A942-CFD7224FF0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1CC8A7-2436-4039-9E69-D042721A74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D2BCE9-8B80-4237-B113-48392DCE79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691B60-164E-45B3-9D97-A6E18ED98F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4B309C-57CA-4923-8A7D-47D9BEA155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CCB358-6C9A-41AA-82E4-8B00486889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79BEE33-01B1-433B-ACCC-E30F3D61D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22CE43F-62C0-4093-823F-EAEA9B7560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9714FC-EADD-4A4F-A103-B4D1365CF9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D5EB38-662A-47E5-B4B8-7E3809A0CC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31A88F-CC1B-481C-BA86-092043A98A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0BAB4F-A71F-4900-BE00-943C0D0017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3FAFE3-C9EF-430E-B679-65A156223E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9988B6E-C475-42F9-B7C1-1DFA91700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00DCC44-CE88-4181-93E8-85D6D63E29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62377E0-6B9D-41F0-AC8D-5C3A23F2C4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940223-D614-4725-A66B-B39A6F8EA0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548208-A4DF-4D50-863E-36F7E73F7C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E3809F-EC79-4D26-B457-27CBDD4D74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8562D90-0524-4E94-8158-4753BEE9BD7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9BE7B22-502C-4636-A2F4-1E28003752B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1AE924-9BAD-4943-97C2-6823346B98F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16BE8E-9210-46CC-88B4-929881CB33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1D73355-2DA5-4318-9FBD-11707B15F6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592BAC9-8D3C-4E57-AF09-41B766368F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9BA299-6213-4305-8E1E-3639EFFBD9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8DAE2D6-749D-4663-80E7-F391B417F7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992CC05-FB96-473A-8FF0-BD4355D3A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8F7D44A-5EAF-4EE6-A503-7779C00AC5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0F2DA1C-D3DF-41B3-9C97-4FD606C857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EF7B126-A16E-45C1-97F8-F8AE4FC274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0AF26DD-A4FC-4123-A89A-68EF37D0EC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59EDFF-447D-4519-84F8-967143C998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11AB0E0-30FF-4172-8121-55704702A5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E232B7B-87F0-4235-8AC5-8229DD136C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847A6C5-CBB0-4F99-A1D2-2E12333D9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21EE94-ED82-48D7-9240-5DCCBB06B6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B736DE-E5A5-4A06-9695-AD5C8727B2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EFCE68-CF4F-4825-8F9E-B195840779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9880428-8309-4A16-BEC5-76E606F92BE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60ACDC-E90C-48E9-8070-FCC6B30F23E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B558B78-B724-4B96-B441-0646BC90F0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C0258E-C324-405D-82BE-4CB0023BD5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0DE4D5E-2D4B-48EA-B662-773D5129AE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1D32DF-D15E-41A0-9F02-2DB3A6E273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C40ECB-FE40-4ADA-AA3D-197FF250A8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FA4E62-B02E-4E11-9B78-18CC697BE5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BA1F98-80BD-4798-814D-3162E81D53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3E6AFA-28C5-457A-AFB8-C46B02CE72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CDED720-E3D8-414B-8AE3-F4BCD4E7A7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3C640C-04F3-4B17-BEC1-51923643F5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067029-F2F5-4EF1-A9D2-7C701842EF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C40B60-43E7-4E66-9E20-442F3C7697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049283-E0A3-4770-8911-D9D7B462E3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d89d94003645c6" /><Relationship Type="http://schemas.openxmlformats.org/officeDocument/2006/relationships/slideLayout" Target="/ppt/slideLayouts/slideLayout1.xml" Id="Rd20b46811d064e9f" /><Relationship Type="http://schemas.openxmlformats.org/officeDocument/2006/relationships/slideLayout" Target="/ppt/slideLayouts/slideLayout2.xml" Id="Rf5848086750f4fae" /><Relationship Type="http://schemas.openxmlformats.org/officeDocument/2006/relationships/slideLayout" Target="/ppt/slideLayouts/slideLayout3.xml" Id="R37ae3970822047d5" /><Relationship Type="http://schemas.openxmlformats.org/officeDocument/2006/relationships/slideLayout" Target="/ppt/slideLayouts/slideLayout4.xml" Id="R78b1c0b650f44980" /><Relationship Type="http://schemas.openxmlformats.org/officeDocument/2006/relationships/slideLayout" Target="/ppt/slideLayouts/slideLayout5.xml" Id="Rcb724d7152d4445e" /><Relationship Type="http://schemas.openxmlformats.org/officeDocument/2006/relationships/slideLayout" Target="/ppt/slideLayouts/slideLayout6.xml" Id="R990eb19b33cd4de1" /><Relationship Type="http://schemas.openxmlformats.org/officeDocument/2006/relationships/slideLayout" Target="/ppt/slideLayouts/slideLayout7.xml" Id="Rb3c3968081ff4f22" /><Relationship Type="http://schemas.openxmlformats.org/officeDocument/2006/relationships/slideLayout" Target="/ppt/slideLayouts/slideLayout8.xml" Id="R6b4e9b61773e4886" /><Relationship Type="http://schemas.openxmlformats.org/officeDocument/2006/relationships/slideLayout" Target="/ppt/slideLayouts/slideLayout9.xml" Id="R85f3ff0e7b0c46f8" /><Relationship Type="http://schemas.openxmlformats.org/officeDocument/2006/relationships/slideLayout" Target="/ppt/slideLayouts/slideLayout10.xml" Id="Rdd50f8fd1e5c4d4b" /><Relationship Type="http://schemas.openxmlformats.org/officeDocument/2006/relationships/slideLayout" Target="/ppt/slideLayouts/slideLayout11.xml" Id="R19e2f8cc3a0549a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662B14F-EE23-402E-946B-0136DD98FB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364B260-0C2D-4C9B-95B8-E473E4BB27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3FF4C2-8C9F-4863-862E-4A3C058203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5734F9-081A-4CFC-AAA7-BE8B42934D5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AE10B0-65FF-4654-836F-5A3562312A8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0b46811d064e9f"/>
    <p:sldLayoutId xmlns:r="http://schemas.openxmlformats.org/officeDocument/2006/relationships" id="2147483650" r:id="Rf5848086750f4fae"/>
    <p:sldLayoutId xmlns:r="http://schemas.openxmlformats.org/officeDocument/2006/relationships" id="2147483651" r:id="R37ae3970822047d5"/>
    <p:sldLayoutId xmlns:r="http://schemas.openxmlformats.org/officeDocument/2006/relationships" id="2147483652" r:id="R78b1c0b650f44980"/>
    <p:sldLayoutId xmlns:r="http://schemas.openxmlformats.org/officeDocument/2006/relationships" id="2147483653" r:id="Rcb724d7152d4445e"/>
    <p:sldLayoutId xmlns:r="http://schemas.openxmlformats.org/officeDocument/2006/relationships" id="2147483654" r:id="R990eb19b33cd4de1"/>
    <p:sldLayoutId xmlns:r="http://schemas.openxmlformats.org/officeDocument/2006/relationships" id="2147483655" r:id="Rb3c3968081ff4f22"/>
    <p:sldLayoutId xmlns:r="http://schemas.openxmlformats.org/officeDocument/2006/relationships" id="2147483656" r:id="R6b4e9b61773e4886"/>
    <p:sldLayoutId xmlns:r="http://schemas.openxmlformats.org/officeDocument/2006/relationships" id="2147483657" r:id="R85f3ff0e7b0c46f8"/>
    <p:sldLayoutId xmlns:r="http://schemas.openxmlformats.org/officeDocument/2006/relationships" id="2147483658" r:id="Rdd50f8fd1e5c4d4b"/>
    <p:sldLayoutId xmlns:r="http://schemas.openxmlformats.org/officeDocument/2006/relationships" id="2147483659" r:id="R19e2f8cc3a0549a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1a6af44dfc46b5" /><Relationship Type="http://schemas.openxmlformats.org/officeDocument/2006/relationships/notesSlide" Target="/ppt/notesSlides/notesSlide1.xml" Id="Rf370735af2de4a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1837e4cfc94360" /><Relationship Type="http://schemas.openxmlformats.org/officeDocument/2006/relationships/notesSlide" Target="/ppt/notesSlides/notesSlide2.xml" Id="R4168082e14d74e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621483d89c4b3b" /><Relationship Type="http://schemas.openxmlformats.org/officeDocument/2006/relationships/notesSlide" Target="/ppt/notesSlides/notesSlide3.xml" Id="R407bcf16927f4c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d49d3689484164" /><Relationship Type="http://schemas.openxmlformats.org/officeDocument/2006/relationships/notesSlide" Target="/ppt/notesSlides/notesSlide4.xml" Id="R9b5bb0aeaa2748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df6abf768f4bbb" /><Relationship Type="http://schemas.openxmlformats.org/officeDocument/2006/relationships/notesSlide" Target="/ppt/notesSlides/notesSlide5.xml" Id="Raa32303a4f964f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86c55c56344427" /><Relationship Type="http://schemas.openxmlformats.org/officeDocument/2006/relationships/notesSlide" Target="/ppt/notesSlides/notesSlide6.xml" Id="Rc21e117ea55d41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997f85f5c24b31" /><Relationship Type="http://schemas.openxmlformats.org/officeDocument/2006/relationships/notesSlide" Target="/ppt/notesSlides/notesSlide7.xml" Id="R3a1678544c7b44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9b737ef3a44597" /><Relationship Type="http://schemas.openxmlformats.org/officeDocument/2006/relationships/notesSlide" Target="/ppt/notesSlides/notesSlide8.xml" Id="Rce091a9143074b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D70D6C-5FA8-4E43-8D13-C6D7F762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AF04A94-792D-4551-81D8-608A3E29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8892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948E3EB-9FE0-466E-A8BB-5341A966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1069848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4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Blockchain-based Cold-Chain Traceability</a:t>
            </a:r>
          </a:p>
          <a:p xmlns:a="http://schemas.openxmlformats.org/drawingml/2006/main">
            <a:r>
              <a:rPr sz="2000">
                <a:solidFill>
                  <a:srgbClr val="CFE3E8"/>
                </a:solidFill>
                <a:latin typeface="Calibri"/>
                <a:ea typeface="Calibri"/>
                <a:cs typeface="Calibri"/>
              </a:rPr>
              <a:t>for pasteurised milk  ·  Hyperledger Fabric PoC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270E8B-6425-41B6-848C-4F2AD16C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10698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COMP6452 26T2 — Project 2, Task 3</a:t>
            </a:r>
          </a:p>
        </p:txBody>
      </p:sp>
      <p:graphicFrame>
        <p:nvGraphicFramePr>
          <p:cNvPr id="11" name="Table 5"/>
          <p:cNvGraphicFramePr/>
          <p:nvPr/>
        </p:nvGraphicFramePr>
        <p:xfrm>
          <a:off xmlns:a="http://schemas.openxmlformats.org/drawingml/2006/main" x="731520" y="3611880"/>
          <a:ext xmlns:a="http://schemas.openxmlformats.org/drawingml/2006/main" cx="10698480" cy="24688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7132320"/>
              </a:tblGrid>
              <a:tr h="4937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Member</a:t>
                      </a:r>
                    </a:p>
                  </a:txBody>
                  <a:tcPr marL="91440" marR="91440" marT="45720" marB="45720">
                    <a:solidFill>
                      <a:srgbClr val="1C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zID</a:t>
                      </a:r>
                    </a:p>
                  </a:txBody>
                  <a:tcPr marL="91440" marR="91440" marT="45720" marB="45720">
                    <a:solidFill>
                      <a:srgbClr val="1C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Responsibility (who did what)</a:t>
                      </a:r>
                    </a:p>
                  </a:txBody>
                  <a:tcPr marL="91440" marR="91440" marT="45720" marB="45720">
                    <a:solidFill>
                      <a:srgbClr val="1C8C8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Yan, Chaoliang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z5643222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batch-registry chaincode — state machine, ABAC roles, private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Huang, Neier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z5400040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coldchain-compliance chaincode — breach logic, recall cascade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  <a:ea typeface="Calibri"/>
                          <a:cs typeface="Calibri"/>
                        </a:rPr>
                        <a:t>Hu, Zhaoheng</a:t>
                      </a:r>
                    </a:p>
                  </a:txBody>
                  <a:tcPr marL="91440" marR="91440" marT="45720" marB="45720">
                    <a:solidFill>
                      <a:srgbClr val="E7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  <a:ea typeface="Calibri"/>
                          <a:cs typeface="Calibri"/>
                        </a:rPr>
                        <a:t>z5357529</a:t>
                      </a:r>
                    </a:p>
                  </a:txBody>
                  <a:tcPr marL="91440" marR="91440" marT="45720" marB="45720">
                    <a:solidFill>
                      <a:srgbClr val="E7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  <a:ea typeface="Calibri"/>
                          <a:cs typeface="Calibri"/>
                        </a:rPr>
                        <a:t>Off-chain oracle, storage adapter, event indexer</a:t>
                      </a:r>
                    </a:p>
                  </a:txBody>
                  <a:tcPr marL="91440" marR="91440" marT="45720" marB="45720">
                    <a:solidFill>
                      <a:srgbClr val="E7F2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Lin, Chi-Hsien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z5620437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Fabric network, role clients, integration tests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79968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8FC81D2-2AE7-410E-9BA5-9E4A2497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Problem &amp; why blockchain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45A4BD7-CDC0-40DD-9D34-0CEA8719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2A2DE9-CA87-4CF7-91C5-D73CC656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2 / 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20B73D-213C-4516-8D9F-48E0F4E9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80160"/>
            <a:ext cx="10972800" cy="5212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Domain: </a:t>
            </a:r>
            <a:r>
              <a:rPr sz="18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pasteurised-milk cold chain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</a:t>
            </a: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A concrete product with a chilled 0–4°C profile and time-critical recalls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Multi-party, low trust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producer → transporter → warehouse → regulator; no party should own the record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What blockchain buys us here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Tamper-evident shared custody + temperature-compliance record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Automated, rule-based flagging &amp; recall that every party can verify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Access control by cryptographic identity (ABAC), not a trusted app server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Commercial data stays private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Unit price / inspection notes → Fabric private data collection, not a public chain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53F589-D4CF-49E7-B4BD-7EC96FD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0936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i="1">
                <a:solidFill>
                  <a:srgbClr val="5B6670"/>
                </a:solidFill>
                <a:latin typeface="Calibri"/>
                <a:ea typeface="Calibri"/>
                <a:cs typeface="Calibri"/>
              </a:rPr>
              <a:t>Suitability: multi-party + shared state + verifiable automation + no trusted intermediary → good fit.</a:t>
            </a:r>
          </a:p>
        </p:txBody>
      </p:sp>
    </p:spTree>
    <p:extLst>
      <p:ext uri="{BB962C8B-B14F-4D97-AF65-F5344CB8AC3E}">
        <p14:creationId xmlns:p14="http://schemas.microsoft.com/office/powerpoint/2010/main" val="4685140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AE6764-86AD-4C3B-BCD7-D9ECBD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Architecture — component &amp; connector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7253E9-1756-47E7-8BCF-CE16316C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BE2F91-BEB9-42D5-AD65-B6A7679D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3 / 8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242D55D-1AB2-4D58-ACEF-EF636ACC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234440"/>
            <a:ext cx="42976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8A3F8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8A3F8A"/>
                </a:solidFill>
                <a:latin typeface="Calibri"/>
                <a:ea typeface="Calibri"/>
                <a:cs typeface="Calibri"/>
              </a:rPr>
              <a:t>Clients (P4): producer · transporter · regulator</a:t>
            </a:r>
          </a:p>
          <a:p xmlns:a="http://schemas.openxmlformats.org/drawingml/2006/main">
            <a:r>
              <a:rPr sz="9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each connects via fabric-gateway with its own identity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167B03-4687-4675-8511-6CD9677F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123A54"/>
                </a:solidFill>
                <a:latin typeface="Calibri"/>
                <a:ea typeface="Calibri"/>
                <a:cs typeface="Calibri"/>
              </a:rPr>
              <a:t>On-chain — channel: mychannel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D68C942-7B77-4966-8B22-82B4CD4C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5212080" cy="137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3B5BA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3B5BA9"/>
                </a:solidFill>
                <a:latin typeface="Calibri"/>
                <a:ea typeface="Calibri"/>
                <a:cs typeface="Calibri"/>
              </a:rPr>
              <a:t>batch-registry  (P1)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FR1 register · FR2 custody &amp; traceability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state machine · ABAC roles · private data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emits BatchRegistered / Flagged / Recalled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BB0F5E1-0896-4BA0-9397-09AB23B8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86000"/>
            <a:ext cx="5212080" cy="137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2E8B5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coldchain-compliance  (P2)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FR3 breach detection + recall cascade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consumes oracle readings, counts 3 breaches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→ invokeChaincode FlagBatch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19B29E-B3C4-42ED-9B29-3C01CD86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487168"/>
            <a:ext cx="1097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i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invoke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A22AB9C-DE87-4DB5-A919-377FF806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C16A2E"/>
                </a:solidFill>
                <a:latin typeface="Calibri"/>
                <a:ea typeface="Calibri"/>
                <a:cs typeface="Calibri"/>
              </a:rPr>
              <a:t>Off-chain (P3)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0516CB6-B7AC-44A8-88DF-231F132A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3566160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C16A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C16A2E"/>
                </a:solidFill>
                <a:latin typeface="Calibri"/>
                <a:ea typeface="Calibri"/>
                <a:cs typeface="Calibri"/>
              </a:rPr>
              <a:t>oracle-service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aggregate temperature windows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submit signed summary on chain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(identity carries oracle=true)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21BEEA0-84E4-477E-BEEB-BFB2CFDA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160520"/>
            <a:ext cx="3566160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C16A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C16A2E"/>
                </a:solidFill>
                <a:latin typeface="Calibri"/>
                <a:ea typeface="Calibri"/>
                <a:cs typeface="Calibri"/>
              </a:rPr>
              <a:t>storage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content-addressed SHA-256 store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raw series off chain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only the hash is anchored on chain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133AF30-9833-43FF-9109-0B25C8C5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160520"/>
            <a:ext cx="3566160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22225">
            <a:solidFill>
              <a:srgbClr val="C16A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C16A2E"/>
                </a:solidFill>
                <a:latin typeface="Calibri"/>
                <a:ea typeface="Calibri"/>
                <a:cs typeface="Calibri"/>
              </a:rPr>
              <a:t>indexer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subscribes to chaincode events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serves fast per-batch history</a:t>
            </a:r>
          </a:p>
          <a:p xmlns:a="http://schemas.openxmlformats.org/drawingml/2006/main">
            <a:r>
              <a:rPr sz="105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(FR2 traceability query)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A82AE68-A101-4785-BF34-2956C44C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15000"/>
            <a:ext cx="11064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i="1">
                <a:solidFill>
                  <a:srgbClr val="5B6670"/>
                </a:solidFill>
                <a:latin typeface="Calibri"/>
                <a:ea typeface="Calibri"/>
                <a:cs typeface="Calibri"/>
              </a:rPr>
              <a:t>Two smart contracts with real business logic. The oracle folds in off-chain computation + off-chain storage, as the spec allows.</a:t>
            </a:r>
          </a:p>
        </p:txBody>
      </p:sp>
    </p:spTree>
    <p:extLst>
      <p:ext uri="{BB962C8B-B14F-4D97-AF65-F5344CB8AC3E}">
        <p14:creationId xmlns:p14="http://schemas.microsoft.com/office/powerpoint/2010/main" val="2697522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A3639CD-01DD-4329-BC7C-0D755452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Requirements → design  &amp;  Task 2 feedback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297512-C6D6-49D8-A265-4C1EA7BA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BDF5510-A800-4C63-8A69-3F6A3AB2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4 / 8</a:t>
            </a:r>
          </a:p>
        </p:txBody>
      </p:sp>
      <p:graphicFrame>
        <p:nvGraphicFramePr>
          <p:cNvPr id="11" name="Table 4"/>
          <p:cNvGraphicFramePr/>
          <p:nvPr/>
        </p:nvGraphicFramePr>
        <p:xfrm>
          <a:off xmlns:a="http://schemas.openxmlformats.org/drawingml/2006/main" x="594360" y="1234440"/>
          <a:ext xmlns:a="http://schemas.openxmlformats.org/drawingml/2006/main" cx="6766560" cy="329184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566160"/>
              </a:tblGrid>
              <a:tr h="47026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Requirement</a:t>
                      </a:r>
                    </a:p>
                  </a:txBody>
                  <a:tcPr marL="91440" marR="91440" marT="45720" marB="45720">
                    <a:solidFill>
                      <a:srgbClr val="123A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Where it lives</a:t>
                      </a:r>
                    </a:p>
                  </a:txBody>
                  <a:tcPr marL="91440" marR="91440" marT="45720" marB="45720">
                    <a:solidFill>
                      <a:srgbClr val="123A5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FR1 register a batch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batch-registry.RegisterBatch (producer, ABAC)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FR2 trace custody &amp; history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state machine + events + indexer query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FR3 flag a problem batch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oracle → compliance → 3 breaches → FlagBatch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FR3 recall derived batches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compliance BFS over derivedFrom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NFR fast traceability query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off-chain indexer</a:t>
                      </a:r>
                    </a:p>
                  </a:txBody>
                  <a:tcPr marL="91440" marR="91440" marT="45720" marB="45720">
                    <a:solidFill>
                      <a:srgbClr val="F2F6F8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Confidential price / notes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  <a:ea typeface="Calibri"/>
                          <a:cs typeface="Calibri"/>
                        </a:rPr>
                        <a:t>Fabric private data collection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9A8FB8-1BB0-4F78-8C6A-A81B0721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234440"/>
            <a:ext cx="4023360" cy="4297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5F5"/>
          </a:solidFill>
          <a:ln xmlns:a="http://schemas.openxmlformats.org/drawingml/2006/main" w="22225">
            <a:solidFill>
              <a:srgbClr val="1C8C8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C8C8C"/>
                </a:solidFill>
                <a:latin typeface="Calibri"/>
                <a:ea typeface="Calibri"/>
                <a:cs typeface="Calibri"/>
              </a:rPr>
              <a:t>Changes after Task 2 feedback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Refinements going into Task 3: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• scoped domain to pasteurised milk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   </a:t>
            </a:r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(chilled 0–4°C profile)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• requirements rewritten with MUST /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   SHOULD (RFC 2119); FRs vs NFRs split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• role &amp; oracle rights via ABAC cert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   attributes, not tx arguments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• commercial fields moved to a private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   data collection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← confirm against the markers'</a:t>
            </a:r>
          </a:p>
          <a:p xmlns:a="http://schemas.openxmlformats.org/drawingml/2006/main">
            <a:r>
              <a:rPr sz="11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   actual Task 2 feedback</a:t>
            </a:r>
          </a:p>
        </p:txBody>
      </p:sp>
    </p:spTree>
    <p:extLst>
      <p:ext uri="{BB962C8B-B14F-4D97-AF65-F5344CB8AC3E}">
        <p14:creationId xmlns:p14="http://schemas.microsoft.com/office/powerpoint/2010/main" val="975631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EA6BF4A-88F1-4745-8071-F8891C4C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Implementation details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8CF5A1-C96E-4BEE-BB25-A7E1C94D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BFCAE0-E3CA-4F7A-9EA8-26462202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5 / 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6EF2DA-A790-4704-81CC-E8C8E2E4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80160"/>
            <a:ext cx="10972800" cy="5212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Platform: Hyperledger Fabric 2.5.16 — CA-based test-network, channel mychannel, Org1 + Org2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Smart contracts: TypeScript, fabric-contract-api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state machine for batch status; ABAC (role / oracle attrs from Fabric CA)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private data collection; cross-chaincode invoke for the flag path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Off-chain (TypeScript, @hyperledger/fabric-gateway)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oracle: window aggregation (mean/max/min), submits worst-case temperature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storage: content-addressed SHA-256; re-hashes on read to detect tampering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indexer: chaincode-event listener → per-batch history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Tools: Node 18, mocha + chai (60 network-free unit tests), ts-node, GitHub Actions CI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Patterns / best practice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dependency injection for testability; pure-logic vs gateway-adapter split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frozen interface doc; content-addressing; BFS + visited-set for recall</a:t>
            </a:r>
          </a:p>
        </p:txBody>
      </p:sp>
    </p:spTree>
    <p:extLst>
      <p:ext uri="{BB962C8B-B14F-4D97-AF65-F5344CB8AC3E}">
        <p14:creationId xmlns:p14="http://schemas.microsoft.com/office/powerpoint/2010/main" val="1435204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D09D90-3D51-445B-ACE3-BF1319B8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Demo — scripted, 3 terminals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6089967-5080-46C6-A361-BF25EBCF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CB40A1-CE7A-46C9-A32E-52494546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6 / 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2DD4EC-9C26-4C26-A943-8C49BB61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80160"/>
            <a:ext cx="10972800" cy="5212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5B6670"/>
                </a:solidFill>
                <a:latin typeface="Calibri"/>
                <a:ea typeface="Calibri"/>
                <a:cs typeface="Calibri"/>
              </a:rPr>
              <a:t>●  Pre-staged: network up, chaincode deployed, identities registered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1.  Producer registers pasteurised-milk batch B1  (allowed 0–4°C)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2.  Indexer is listening → shows BatchRegistered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3.  Oracle replays 3 temperature windows (max 14 / 16 / 15.5°C):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aggregate  →  store raw series off chain  →  submit summary on chain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4.  After the 3rd breach, compliance flags B1 via cross-chaincode invoke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●  5.  Indexer now shows BatchFlagged;  GetBatch B1  →  status: FLAGGED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F115B90-03C6-41CE-B5A4-6BB11691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57800"/>
            <a:ext cx="109728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5F5"/>
          </a:solidFill>
          <a:ln xmlns:a="http://schemas.openxmlformats.org/drawingml/2006/main" w="22225">
            <a:solidFill>
              <a:srgbClr val="1C8C8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73152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C8C8C"/>
                </a:solidFill>
                <a:latin typeface="Calibri"/>
                <a:ea typeface="Calibri"/>
                <a:cs typeface="Calibri"/>
              </a:rPr>
              <a:t>Punchline</a:t>
            </a:r>
          </a:p>
          <a:p xmlns:a="http://schemas.openxmlformats.org/drawingml/2006/main">
            <a:r>
              <a:rPr sz="12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The flag's evidenceHash IS the SHA-256 of the raw temperature series in off-chain storage</a:t>
            </a:r>
          </a:p>
          <a:p xmlns:a="http://schemas.openxmlformats.org/drawingml/2006/main">
            <a:r>
              <a:rPr sz="120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→ off-chain computation + off-chain storage + oracle + on-chain automation, in one verifiable trail.</a:t>
            </a:r>
          </a:p>
        </p:txBody>
      </p:sp>
    </p:spTree>
    <p:extLst>
      <p:ext uri="{BB962C8B-B14F-4D97-AF65-F5344CB8AC3E}">
        <p14:creationId xmlns:p14="http://schemas.microsoft.com/office/powerpoint/2010/main" val="19505004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067AE9-7AA1-42FE-9D4A-2DAEE551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Code walkthrough  &amp;  testing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83891B-CC4D-4557-8EAF-ED954B6F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20C84DC-34EB-4839-A142-1F8A9FEF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7 / 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DD4D852-4DC4-43D5-A6FC-6BD9D34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80160"/>
            <a:ext cx="10972800" cy="5212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C16A2E"/>
                </a:solidFill>
                <a:latin typeface="Calibri"/>
                <a:ea typeface="Calibri"/>
                <a:cs typeface="Calibri"/>
              </a:rPr>
              <a:t>●  P3 (Hu, Zhaoheng)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summarise() pure aggregation + its unit-test suite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storage tamper-detection (re-hash on read); oracle sends maxC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pure-logic / gateway.ts split — unit tests never touch the network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3B5BA9"/>
                </a:solidFill>
                <a:latin typeface="Calibri"/>
                <a:ea typeface="Calibri"/>
                <a:cs typeface="Calibri"/>
              </a:rPr>
              <a:t>●  P1 / P2 (chaincode)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deterministic getTxTimestamp (not Date.now); ABAC check in access.ts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consecutive-breach counter; top-level BatchFlagged event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(Fabric doesn't surface events set inside a nested invokeChaincode)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700" b="1">
                <a:solidFill>
                  <a:srgbClr val="1C8C8C"/>
                </a:solidFill>
                <a:latin typeface="Calibri"/>
                <a:ea typeface="Calibri"/>
                <a:cs typeface="Calibri"/>
              </a:rPr>
              <a:t>●  Testing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60 network-free unit tests + a Fabric integration / e2e suite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5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CI runs unit tests on every pull request</a:t>
            </a:r>
          </a:p>
        </p:txBody>
      </p:sp>
    </p:spTree>
    <p:extLst>
      <p:ext uri="{BB962C8B-B14F-4D97-AF65-F5344CB8AC3E}">
        <p14:creationId xmlns:p14="http://schemas.microsoft.com/office/powerpoint/2010/main" val="15490160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92A392D-1FCE-4793-84E9-CDD003AF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502920" tIns="91440" anchor="ctr"/>
          <a:lstStyle xmlns:a="http://schemas.openxmlformats.org/drawingml/2006/main"/>
          <a:p xmlns:a="http://schemas.openxmlformats.org/drawingml/2006/main">
            <a:pPr algn="ctr">
              <a:buNone/>
              <a:defRPr sz="2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Backup  &amp;  Q&amp;A prep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1E1D2C-8A3A-4523-92F3-A167F71F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6012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C8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CEA9B95-0FA9-4FFD-813C-758D47EC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292608"/>
            <a:ext cx="640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t>8 / 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BF6363-6AA8-47C0-B1D7-BF947E45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80160"/>
            <a:ext cx="10972800" cy="5212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Why Fabric, not Ethereum?  permissioned parties, private data, no gas, ABAC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Oracle trust boundary?  identity carries oracle=true; chaincode rejects others;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raw series is hash-anchored, so submissions are auditable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Cross-chaincode atomicity?  both write sets commit in one transaction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1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●  Known limitation (good honest point):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nested-invoke chaincode events aren't delivered → we emit BatchFlagged from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the top-level chaincode so the off-chain indexer sees the automated flag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1">
                <a:solidFill>
                  <a:srgbClr val="1C8C8C"/>
                </a:solidFill>
                <a:latin typeface="Calibri"/>
                <a:ea typeface="Calibri"/>
                <a:cs typeface="Calibri"/>
              </a:rPr>
              <a:t>●  Alternative design considered — centralised cloud DB + REST API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one operator owns the record; every other party must trust that operator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no cryptographically verifiable multi-party automation or shared audit trail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242A30"/>
                </a:solidFill>
                <a:latin typeface="Calibri"/>
                <a:ea typeface="Calibri"/>
                <a:cs typeface="Calibri"/>
              </a:rPr>
              <a:t>–  tamper-evidence &amp; access control rest on one server, not on consensus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6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●  Why blockchain won: verifiable shared state + ABAC + private data, no middleman</a:t>
            </a:r>
          </a:p>
          <a:p xmlns:a="http://schemas.openxmlformats.org/drawingml/2006/main">
            <a:pPr lvl="1">
              <a:spcAft>
                <a:spcPts val="700"/>
              </a:spcAft>
              <a:buNone/>
            </a:pPr>
            <a:r>
              <a:rPr sz="1400" b="0">
                <a:solidFill>
                  <a:srgbClr val="5B6670"/>
                </a:solidFill>
                <a:latin typeface="Calibri"/>
                <a:ea typeface="Calibri"/>
                <a:cs typeface="Calibri"/>
              </a:rPr>
              <a:t>–  confirm this matches the alternative you proposed in Task 2</a:t>
            </a:r>
          </a:p>
        </p:txBody>
      </p:sp>
    </p:spTree>
    <p:extLst>
      <p:ext uri="{BB962C8B-B14F-4D97-AF65-F5344CB8AC3E}">
        <p14:creationId xmlns:p14="http://schemas.microsoft.com/office/powerpoint/2010/main" val="8740250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2026-07-29T23:29:15.6570000Z</dcterms:created>
  <dcterms:modified xsi:type="dcterms:W3CDTF">2026-07-29T23:29:15.6570000Z</dcterms:modified>
</coreProperties>
</file>