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Blockchain-based Cold-Chain Traceability</a:t>
            </a:r>
          </a:p>
          <a:p>
            <a:r>
              <a:rPr sz="2000">
                <a:solidFill>
                  <a:srgbClr val="CFE3E8"/>
                </a:solidFill>
                <a:latin typeface="Calibri"/>
              </a:rPr>
              <a:t>for a fresh-food supply chain  ·  Hyperledger Fabric PoC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Calibri"/>
              </a:rPr>
              <a:t>COMP6452 26T2 — Project 2, Task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61188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80160"/>
                <a:gridCol w="7132320"/>
              </a:tblGrid>
              <a:tr h="4937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>
                    <a:solidFill>
                      <a:srgbClr val="1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zID</a:t>
                      </a:r>
                    </a:p>
                  </a:txBody>
                  <a:tcPr>
                    <a:solidFill>
                      <a:srgbClr val="1C8C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Responsibility (who did what)</a:t>
                      </a:r>
                    </a:p>
                  </a:txBody>
                  <a:tcPr>
                    <a:solidFill>
                      <a:srgbClr val="1C8C8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Yan, Chaoliang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z5643222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batch-registry chaincode — state machine, ABAC roles, private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Huang, Neier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z5400040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coldchain-compliance chaincode — breach logic, recall cascade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3A54"/>
                          </a:solidFill>
                          <a:latin typeface="Calibri"/>
                        </a:rPr>
                        <a:t>Hu, Zhaoheng</a:t>
                      </a:r>
                    </a:p>
                  </a:txBody>
                  <a:tcPr>
                    <a:solidFill>
                      <a:srgbClr val="E7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3A54"/>
                          </a:solidFill>
                          <a:latin typeface="Calibri"/>
                        </a:rPr>
                        <a:t>z5357529</a:t>
                      </a:r>
                    </a:p>
                  </a:txBody>
                  <a:tcPr>
                    <a:solidFill>
                      <a:srgbClr val="E7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23A54"/>
                          </a:solidFill>
                          <a:latin typeface="Calibri"/>
                        </a:rPr>
                        <a:t>Off-chain oracle, storage adapter, event indexer</a:t>
                      </a:r>
                    </a:p>
                  </a:txBody>
                  <a:tcPr>
                    <a:solidFill>
                      <a:srgbClr val="E7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Lin, Chi-Hsien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z5620437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42A30"/>
                          </a:solidFill>
                          <a:latin typeface="Calibri"/>
                        </a:rPr>
                        <a:t>Fabric network, role clients, integration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Problem &amp; why blockchain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42A30"/>
                </a:solidFill>
                <a:latin typeface="Calibri"/>
              </a:rPr>
              <a:t>●  Domain: chilled / frozen fresh-food supply chain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Perishables have a hard temperature constraint — not “supply chain” in general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42A30"/>
                </a:solidFill>
                <a:latin typeface="Calibri"/>
              </a:rPr>
              <a:t>●  Multi-party, low trust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producer → transporter → warehouse → regulator; no party should own the record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42A30"/>
                </a:solidFill>
                <a:latin typeface="Calibri"/>
              </a:rPr>
              <a:t>●  What blockchain buys us here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Tamper-evident shared custody + temperature-compliance record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Automated, rule-based flagging &amp; recall that every party can verify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Access control by cryptographic identity (ABAC), not a trusted app server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42A30"/>
                </a:solidFill>
                <a:latin typeface="Calibri"/>
              </a:rPr>
              <a:t>●  Commercial data stays private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Unit price / inspection notes → Fabric private data collection, not a public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B6670"/>
                </a:solidFill>
                <a:latin typeface="Calibri"/>
              </a:rPr>
              <a:t>Suitability: multi-party + shared state + verifiable automation + no trusted intermediary → good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Architecture — component &amp; connector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3 /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234440"/>
            <a:ext cx="4297680" cy="566928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8A3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200">
                <a:solidFill>
                  <a:srgbClr val="8A3F8A"/>
                </a:solidFill>
                <a:latin typeface="Calibri"/>
              </a:rPr>
              <a:t>Clients (P4): producer · transporter · regulator</a:t>
            </a:r>
          </a:p>
          <a:p>
            <a:r>
              <a:rPr sz="950">
                <a:solidFill>
                  <a:srgbClr val="242A30"/>
                </a:solidFill>
                <a:latin typeface="Calibri"/>
              </a:rPr>
              <a:t>each connects via fabric-gateway with its own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23A54"/>
                </a:solidFill>
                <a:latin typeface="Calibri"/>
              </a:rPr>
              <a:t>On-chain — channel: mychannel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212080" cy="1371600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3B5B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3B5BA9"/>
                </a:solidFill>
                <a:latin typeface="Calibri"/>
              </a:rPr>
              <a:t>batch-registry  (P1)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FR1 register · FR2 custody &amp; traceability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state machine · ABAC roles · private data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emits BatchRegistered / Flagged / Recalled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212080" cy="1371600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2E8B57"/>
                </a:solidFill>
                <a:latin typeface="Calibri"/>
              </a:rPr>
              <a:t>coldchain-compliance  (P2)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FR3 breach detection + recall cascade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consumes oracle readings, counts 3 breaches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→ invokeChaincode FlagBatch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487168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2E8B57"/>
                </a:solidFill>
                <a:latin typeface="Calibri"/>
              </a:rPr>
              <a:t>invoke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16A2E"/>
                </a:solidFill>
                <a:latin typeface="Calibri"/>
              </a:rPr>
              <a:t>Off-chain (P3)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60520"/>
            <a:ext cx="3566160" cy="1417320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C1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C16A2E"/>
                </a:solidFill>
                <a:latin typeface="Calibri"/>
              </a:rPr>
              <a:t>oracle-service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aggregate temperature windows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submit signed summary on chain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(identity carries oracle=true)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4160520"/>
            <a:ext cx="3566160" cy="1417320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C1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C16A2E"/>
                </a:solidFill>
                <a:latin typeface="Calibri"/>
              </a:rPr>
              <a:t>storage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content-addressed SHA-256 store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raw series off chain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only the hash is anchored on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160520"/>
            <a:ext cx="3566160" cy="1417320"/>
          </a:xfrm>
          <a:prstGeom prst="roundRect">
            <a:avLst/>
          </a:prstGeom>
          <a:solidFill>
            <a:srgbClr val="F2F6F8"/>
          </a:solidFill>
          <a:ln w="22225">
            <a:solidFill>
              <a:srgbClr val="C16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C16A2E"/>
                </a:solidFill>
                <a:latin typeface="Calibri"/>
              </a:rPr>
              <a:t>indexer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subscribes to chaincode events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serves fast per-batch history</a:t>
            </a:r>
          </a:p>
          <a:p>
            <a:r>
              <a:rPr sz="1050">
                <a:solidFill>
                  <a:srgbClr val="242A30"/>
                </a:solidFill>
                <a:latin typeface="Calibri"/>
              </a:rPr>
              <a:t>(FR2 traceability query)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5B6670"/>
                </a:solidFill>
                <a:latin typeface="Calibri"/>
              </a:rPr>
              <a:t>Two smart contracts with real business logic. The oracle folds in off-chain computation + off-chain storage, as the spec allows.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Requirements → design  &amp;  Task 2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4 /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6766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66160"/>
              </a:tblGrid>
              <a:tr h="47026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>
                    <a:solidFill>
                      <a:srgbClr val="123A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lives</a:t>
                      </a:r>
                    </a:p>
                  </a:txBody>
                  <a:tcPr>
                    <a:solidFill>
                      <a:srgbClr val="123A5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FR1 register a batch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batch-registry.RegisterBatch (producer, ABAC)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FR2 trace custody &amp;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state machine + events + indexer query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FR3 flag a problem batch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oracle → compliance → 3 breaches → FlagBatch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FR3 recall derived 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compliance BFS over derivedFrom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NFR fast traceability query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off-chain indexer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Confidential price / notes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42A30"/>
                          </a:solidFill>
                          <a:latin typeface="Calibri"/>
                        </a:rPr>
                        <a:t>Fabric private data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80960" y="1234440"/>
            <a:ext cx="4023360" cy="4297680"/>
          </a:xfrm>
          <a:prstGeom prst="roundRect">
            <a:avLst/>
          </a:prstGeom>
          <a:solidFill>
            <a:srgbClr val="ECF5F5"/>
          </a:solidFill>
          <a:ln w="22225"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400">
                <a:solidFill>
                  <a:srgbClr val="1C8C8C"/>
                </a:solidFill>
                <a:latin typeface="Calibri"/>
              </a:rPr>
              <a:t>Changes after Task 2 feedback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[TODO — what did the markers say?]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/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• e.g. scoped domain to chilled/frozen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• e.g. separated FRs / NFRs (RFC 2119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   MUST / SHOULD wording)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• e.g. role moved from a tx argument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   to a cryptographic ABAC attribute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• e.g. added alternative-design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   comparison (centralised DB)</a:t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/>
            </a:r>
          </a:p>
          <a:p>
            <a:r>
              <a:rPr sz="1100">
                <a:solidFill>
                  <a:srgbClr val="242A30"/>
                </a:solidFill>
                <a:latin typeface="Calibri"/>
              </a:rPr>
              <a:t>Fill these with your real feedback.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Implementation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Platform: Hyperledger Fabric 2.5.16 — CA-based test-network, channel mychannel, Org1 + Org2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Smart contracts: TypeScript, fabric-contract-api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state machine for batch status; ABAC (role / oracle attrs from Fabric CA)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private data collection; cross-chaincode invoke for the flag path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Off-chain (TypeScript, @hyperledger/fabric-gateway)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oracle: window aggregation (mean/max/min), submits worst-case temperature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storage: content-addressed SHA-256; re-hashes on read to detect tampering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indexer: chaincode-event listener → per-batch history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Tools: Node 18, mocha + chai (60 network-free unit tests), ts-node, GitHub Actions CI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Patterns / best practice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dependency injection for testability; pure-logic vs gateway-adapter split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frozen interface doc; content-addressing; BFS + visited-set for recall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Demo — scripted, 3 terminals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6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5B6670"/>
                </a:solidFill>
                <a:latin typeface="Calibri"/>
              </a:rPr>
              <a:t>●  Pre-staged: network up, chaincode deployed, identities registered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●  1.  Producer registers chilled batch B1  (allowed 0–4°C)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●  2.  Indexer is listening → shows BatchRegistered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●  3.  Oracle replays 3 temperature windows (max 14 / 16 / 15.5°C):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242A30"/>
                </a:solidFill>
                <a:latin typeface="Calibri"/>
              </a:rPr>
              <a:t>–  aggregate  →  store raw series off chain  →  submit summary on chain</a:t>
            </a:r>
          </a:p>
          <a:p>
            <a:pPr>
              <a:spcAft>
                <a:spcPts val="700"/>
              </a:spcAft>
            </a:pPr>
            <a:r>
              <a:rPr sz="1800" b="0">
                <a:solidFill>
                  <a:srgbClr val="242A30"/>
                </a:solidFill>
                <a:latin typeface="Calibri"/>
              </a:rPr>
              <a:t>●  4.  After the 3rd breach, compliance flags B1 via cross-chaincode invoke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E8B57"/>
                </a:solidFill>
                <a:latin typeface="Calibri"/>
              </a:rPr>
              <a:t>●  5.  Indexer now shows BatchFlagged;  GetBatch B1  →  status: FLAGGED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257800"/>
            <a:ext cx="10972800" cy="1051560"/>
          </a:xfrm>
          <a:prstGeom prst="roundRect">
            <a:avLst/>
          </a:prstGeom>
          <a:solidFill>
            <a:srgbClr val="ECF5F5"/>
          </a:solidFill>
          <a:ln w="22225">
            <a:solidFill>
              <a:srgbClr val="1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/>
            <a:r>
              <a:rPr b="1" sz="1300">
                <a:solidFill>
                  <a:srgbClr val="1C8C8C"/>
                </a:solidFill>
                <a:latin typeface="Calibri"/>
              </a:rPr>
              <a:t>Punchline</a:t>
            </a:r>
          </a:p>
          <a:p>
            <a:r>
              <a:rPr sz="1200">
                <a:solidFill>
                  <a:srgbClr val="242A30"/>
                </a:solidFill>
                <a:latin typeface="Calibri"/>
              </a:rPr>
              <a:t>The flag's evidenceHash IS the SHA-256 of the raw temperature series in off-chain storage</a:t>
            </a:r>
          </a:p>
          <a:p>
            <a:r>
              <a:rPr sz="1200">
                <a:solidFill>
                  <a:srgbClr val="242A30"/>
                </a:solidFill>
                <a:latin typeface="Calibri"/>
              </a:rPr>
              <a:t>→ off-chain computation + off-chain storage + oracle + on-chain automation, in one verifiable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Code walkthrough  &amp; 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C16A2E"/>
                </a:solidFill>
                <a:latin typeface="Calibri"/>
              </a:rPr>
              <a:t>●  P3 (Hu, Zhaoheng)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summarise() pure aggregation + its unit-test suite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storage tamper-detection (re-hash on read); oracle sends maxC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pure-logic / gateway.ts split — unit tests never touch the network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3B5BA9"/>
                </a:solidFill>
                <a:latin typeface="Calibri"/>
              </a:rPr>
              <a:t>●  P1 / P2 (chaincode)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deterministic getTxTimestamp (not Date.now); ABAC check in access.ts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consecutive-breach counter; top-level BatchFlagged event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(Fabric doesn't surface events set inside a nested invokeChaincode)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C8C8C"/>
                </a:solidFill>
                <a:latin typeface="Calibri"/>
              </a:rPr>
              <a:t>●  Testing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60 network-free unit tests + a Fabric integration / e2e suite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CI runs unit tests on every pull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Backup  &amp;  Q&amp;A prep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1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77295" y="29260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FFFFF"/>
                </a:solidFill>
                <a:latin typeface="Calibri"/>
              </a:defRPr>
            </a:pPr>
            <a: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10972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242A30"/>
                </a:solidFill>
                <a:latin typeface="Calibri"/>
              </a:rPr>
              <a:t>●  Why Fabric, not Ethereum?  permissioned parties, private data, no gas, ABAC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42A30"/>
                </a:solidFill>
                <a:latin typeface="Calibri"/>
              </a:rPr>
              <a:t>●  Oracle trust boundary?  identity carries oracle=true; chaincode rejects others;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raw series is hash-anchored, so submissions are auditable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242A30"/>
                </a:solidFill>
                <a:latin typeface="Calibri"/>
              </a:rPr>
              <a:t>●  Cross-chaincode atomicity?  both write sets commit in one transaction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42A30"/>
                </a:solidFill>
                <a:latin typeface="Calibri"/>
              </a:rPr>
              <a:t>●  Known limitation (good honest point):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nested-invoke chaincode events aren't delivered → we emit BatchFlagged from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242A30"/>
                </a:solidFill>
                <a:latin typeface="Calibri"/>
              </a:rPr>
              <a:t>–  the top-level chaincode so the off-chain indexer sees the automated flag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C8C8C"/>
                </a:solidFill>
                <a:latin typeface="Calibri"/>
              </a:rPr>
              <a:t>●  Alternative design considered:  [TODO — centralised DB / cloud, and why the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C8C8C"/>
                </a:solidFill>
                <a:latin typeface="Calibri"/>
              </a:rPr>
              <a:t>–  multi-party trust + verifiable automation made blockchain the better fit]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