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04" d="100"/>
          <a:sy n="104" d="100"/>
        </p:scale>
        <p:origin x="232" y="3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Good morning. I am Chaoliang Yan, and you can call me Lawrence. I own the batch registry. Zhaoheng Hu owns cold-chain compliance. Chi-Hsien Lin owns the off-chain services. Neier Huang owns the client applications and Fabric network. Our four parts join one live flow: register, transfer, detect, and recall.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architecture shows the owner of every layer. Neier owns the clients, gateway identities, and network foundation. I own the batch registry. Zhaoheng owns the compliance contract. Chi-Hsien owns the Oracle, storage, indexer, and off-chain services. Shared decisions stay on-chain, while large or private evidence stays off-chain and remains verifiable.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We converted the Task Two teacher feedback into four improvements. MarkDelivered completes the lifecycle. Seven events improve read-model visibility. Recall uses a registry query, breadth-first search, and a visited set, so cycles are safe. Raw-data hashes are checked on-chain and checked again when evidence is read. The result is clearer ownership, testable logic, safe recall, and better demo readiness.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This page is only my work. I built the batch registry in batchRegistry dot ts, with access, private data, and state-machine helpers. RegisterBatch checks the producer role, writes the public batch state, and stores price and inspection notes in private data. TransferCustody checks the current holder, checks the legal state transition, and emits the event. In the demo, this work proves registration, expected rejection, private data, and custody transfer.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page is Zhaoheng's work. He built the compliance and recall logic in compliance dot ts. Each breach summary increases the consecutive counter. When the counter reaches three, compliance calls FlagBatch in the batch registry. Recall uses a queue and visited set to reach descendants without looping. The demo proves automatic flagging and the child and grandchild recall tree.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page is Chi-Hsien's work. He built the off-chain Oracle pipeline and storage verification. The pure summarise function turns the raw series into a signed summary, while the raw data stays off-chain. Storage calculates SHA-256 and hashes the content again when it is read. Separating pure logic from the gateway supports fast network-free unit tests.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page is Neier's work. He built Fabric Gateway identity wiring, the producer, transporter, and regulator clients, and the network lifecycle scripts. The connection code loads the correct signed identity and sends each role through Fabric Gateway. The scripts start the network, deploy Chaincode-as-a-Service, commit the code, and run the live flow. This work connects all other subsystems in the demo and integration tests.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mp6452_task3_final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omp6452_task3_final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476250"/>
            <a:ext cx="10979658" cy="333375"/>
            <a:chOff x="602742" y="476250"/>
            <a:chExt cx="10979658" cy="333375"/>
          </a:xfrm>
        </p:grpSpPr>
        <p:sp>
          <p:nvSpPr>
            <p:cNvPr id="2" name="TextBox 2"/>
            <p:cNvSpPr txBox="1"/>
            <p:nvPr/>
          </p:nvSpPr>
          <p:spPr>
            <a:xfrm>
              <a:off x="602742" y="482918"/>
              <a:ext cx="304817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onsolas"/>
                  <a:ea typeface="Consolas"/>
                  <a:cs typeface="Consolas"/>
                </a:rPr>
                <a:t>COMP6452 · PROJECT 2 · TASK 3</a:t>
              </a:r>
            </a:p>
          </p:txBody>
        </p:sp>
        <p:sp>
          <p:nvSpPr>
            <p:cNvPr id="3" name="TextBox 3"/>
            <p:cNvSpPr txBox="1"/>
            <p:nvPr/>
          </p:nvSpPr>
          <p:spPr>
            <a:xfrm>
              <a:off x="10668000" y="476250"/>
              <a:ext cx="762000" cy="228600"/>
            </a:xfrm>
            <a:prstGeom prst="rect">
              <a:avLst/>
            </a:prstGeom>
            <a:noFill/>
            <a:ln>
              <a:noFill/>
            </a:ln>
          </p:spPr>
          <p:txBody>
            <a:bodyPr wrap="square" lIns="0" tIns="22860" rIns="0" bIns="0" anchor="t" anchorCtr="0">
              <a:noAutofit/>
            </a:bodyPr>
            <a:lstStyle/>
            <a:p>
              <a:pPr algn="r"/>
              <a:r>
                <a:rPr lang="en-US" sz="1200" dirty="0">
                  <a:solidFill>
                    <a:schemeClr val="accent1"/>
                  </a:solidFill>
                  <a:latin typeface="Consolas"/>
                  <a:ea typeface="Consolas"/>
                  <a:cs typeface="Consolas"/>
                </a:rPr>
                <a:t>01 / 07</a:t>
              </a:r>
            </a:p>
          </p:txBody>
        </p:sp>
        <p:sp>
          <p:nvSpPr>
            <p:cNvPr id="4" name="Line 4"/>
            <p:cNvSpPr/>
            <p:nvPr/>
          </p:nvSpPr>
          <p:spPr>
            <a:xfrm>
              <a:off x="609600" y="800100"/>
              <a:ext cx="10972800" cy="9525"/>
            </a:xfrm>
            <a:custGeom>
              <a:avLst/>
              <a:gdLst/>
              <a:ahLst/>
              <a:cxnLst/>
              <a:rect l="l" t="t" r="r" b="b"/>
              <a:pathLst>
                <a:path w="10972800" h="9525">
                  <a:moveTo>
                    <a:pt x="0" y="0"/>
                  </a:moveTo>
                  <a:lnTo>
                    <a:pt x="10972800" y="0"/>
                  </a:lnTo>
                </a:path>
              </a:pathLst>
            </a:custGeom>
            <a:noFill/>
            <a:ln w="19050">
              <a:solidFill>
                <a:schemeClr val="accent1"/>
              </a:solidFill>
            </a:ln>
          </p:spPr>
          <p:txBody>
            <a:bodyPr/>
            <a:lstStyle/>
            <a:p>
              <a:endParaRPr lang="en-US"/>
            </a:p>
          </p:txBody>
        </p:sp>
      </p:grpSp>
      <p:grpSp>
        <p:nvGrpSpPr>
          <p:cNvPr id="14" name="Group 14"/>
          <p:cNvGrpSpPr/>
          <p:nvPr/>
        </p:nvGrpSpPr>
        <p:grpSpPr>
          <a:xfrm>
            <a:off x="592836" y="1252537"/>
            <a:ext cx="3840004" cy="3972497"/>
            <a:chOff x="592836" y="1252537"/>
            <a:chExt cx="3840004" cy="3972497"/>
          </a:xfrm>
        </p:grpSpPr>
        <p:grpSp>
          <p:nvGrpSpPr>
            <p:cNvPr id="10" name="Group 10"/>
            <p:cNvGrpSpPr/>
            <p:nvPr/>
          </p:nvGrpSpPr>
          <p:grpSpPr>
            <a:xfrm>
              <a:off x="661987" y="1252537"/>
              <a:ext cx="314324" cy="314325"/>
              <a:chOff x="661987" y="1252537"/>
              <a:chExt cx="314324" cy="314325"/>
            </a:xfrm>
          </p:grpSpPr>
          <p:sp>
            <p:nvSpPr>
              <p:cNvPr id="6" name="Freeform 6"/>
              <p:cNvSpPr/>
              <p:nvPr/>
            </p:nvSpPr>
            <p:spPr>
              <a:xfrm>
                <a:off x="696912" y="125253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1"/>
                </a:solidFill>
              </a:ln>
            </p:spPr>
            <p:txBody>
              <a:bodyPr/>
              <a:lstStyle/>
              <a:p>
                <a:endParaRPr lang="en-US"/>
              </a:p>
            </p:txBody>
          </p:sp>
          <p:sp>
            <p:nvSpPr>
              <p:cNvPr id="7" name="Freeform 7"/>
              <p:cNvSpPr/>
              <p:nvPr/>
            </p:nvSpPr>
            <p:spPr>
              <a:xfrm>
                <a:off x="661987" y="146208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34925">
                <a:solidFill>
                  <a:schemeClr val="accent1"/>
                </a:solidFill>
              </a:ln>
            </p:spPr>
            <p:txBody>
              <a:bodyPr/>
              <a:lstStyle/>
              <a:p>
                <a:endParaRPr lang="en-US"/>
              </a:p>
            </p:txBody>
          </p:sp>
          <p:sp>
            <p:nvSpPr>
              <p:cNvPr id="8" name="Freeform 8"/>
              <p:cNvSpPr/>
              <p:nvPr/>
            </p:nvSpPr>
            <p:spPr>
              <a:xfrm>
                <a:off x="888999" y="1254808"/>
                <a:ext cx="52524" cy="135334"/>
              </a:xfrm>
              <a:custGeom>
                <a:avLst/>
                <a:gdLst/>
                <a:ahLst/>
                <a:cxnLst/>
                <a:rect l="l" t="t" r="r" b="b"/>
                <a:pathLst>
                  <a:path w="52524" h="135334">
                    <a:moveTo>
                      <a:pt x="0" y="0"/>
                    </a:moveTo>
                    <a:cubicBezTo>
                      <a:pt x="30907" y="7913"/>
                      <a:pt x="52524" y="35763"/>
                      <a:pt x="52524" y="67667"/>
                    </a:cubicBezTo>
                    <a:cubicBezTo>
                      <a:pt x="52524" y="99571"/>
                      <a:pt x="30907" y="127421"/>
                      <a:pt x="0" y="135334"/>
                    </a:cubicBezTo>
                  </a:path>
                </a:pathLst>
              </a:custGeom>
              <a:noFill/>
              <a:ln w="34925">
                <a:solidFill>
                  <a:schemeClr val="accent1"/>
                </a:solidFill>
              </a:ln>
            </p:spPr>
            <p:txBody>
              <a:bodyPr/>
              <a:lstStyle/>
              <a:p>
                <a:endParaRPr lang="en-US"/>
              </a:p>
            </p:txBody>
          </p:sp>
          <p:sp>
            <p:nvSpPr>
              <p:cNvPr id="9" name="Freeform 9"/>
              <p:cNvSpPr/>
              <p:nvPr/>
            </p:nvSpPr>
            <p:spPr>
              <a:xfrm>
                <a:off x="923924" y="1464706"/>
                <a:ext cx="52387" cy="102155"/>
              </a:xfrm>
              <a:custGeom>
                <a:avLst/>
                <a:gdLst/>
                <a:ahLst/>
                <a:cxnLst/>
                <a:rect l="l" t="t" r="r" b="b"/>
                <a:pathLst>
                  <a:path w="52387" h="102155">
                    <a:moveTo>
                      <a:pt x="52387" y="102155"/>
                    </a:moveTo>
                    <a:lnTo>
                      <a:pt x="52387" y="67231"/>
                    </a:lnTo>
                    <a:cubicBezTo>
                      <a:pt x="52205" y="35529"/>
                      <a:pt x="30696" y="7925"/>
                      <a:pt x="0" y="0"/>
                    </a:cubicBezTo>
                  </a:path>
                </a:pathLst>
              </a:custGeom>
              <a:noFill/>
              <a:ln w="34925">
                <a:solidFill>
                  <a:schemeClr val="accent1"/>
                </a:solidFill>
              </a:ln>
            </p:spPr>
            <p:txBody>
              <a:bodyPr/>
              <a:lstStyle/>
              <a:p>
                <a:endParaRPr lang="en-US"/>
              </a:p>
            </p:txBody>
          </p:sp>
        </p:grpSp>
        <p:sp>
          <p:nvSpPr>
            <p:cNvPr id="11" name="TextBox 11"/>
            <p:cNvSpPr txBox="1"/>
            <p:nvPr/>
          </p:nvSpPr>
          <p:spPr>
            <a:xfrm>
              <a:off x="592836" y="1720215"/>
              <a:ext cx="3840004" cy="1140714"/>
            </a:xfrm>
            <a:prstGeom prst="rect">
              <a:avLst/>
            </a:prstGeom>
            <a:noFill/>
            <a:ln>
              <a:noFill/>
            </a:ln>
          </p:spPr>
          <p:txBody>
            <a:bodyPr wrap="square" lIns="0" tIns="0" rIns="0" bIns="0" anchor="t" anchorCtr="0"/>
            <a:lstStyle/>
            <a:p>
              <a:pPr algn="l">
                <a:lnSpc>
                  <a:spcPts val="3900"/>
                </a:lnSpc>
              </a:pPr>
              <a:r>
                <a:rPr lang="en-US" sz="3300" b="1" dirty="0">
                  <a:solidFill>
                    <a:schemeClr val="dk1"/>
                  </a:solidFill>
                  <a:latin typeface="+mn-lt"/>
                  <a:ea typeface="+mn-ea"/>
                  <a:cs typeface="+mn-cs"/>
                </a:rPr>
                <a:t>Fresh Food Supply Chain Traceability</a:t>
              </a:r>
            </a:p>
          </p:txBody>
        </p:sp>
        <p:sp>
          <p:nvSpPr>
            <p:cNvPr id="12" name="TextBox 12"/>
            <p:cNvSpPr txBox="1"/>
            <p:nvPr/>
          </p:nvSpPr>
          <p:spPr>
            <a:xfrm>
              <a:off x="597408" y="3112770"/>
              <a:ext cx="2776728" cy="850392"/>
            </a:xfrm>
            <a:prstGeom prst="rect">
              <a:avLst/>
            </a:prstGeom>
            <a:noFill/>
            <a:ln>
              <a:noFill/>
            </a:ln>
          </p:spPr>
          <p:txBody>
            <a:bodyPr wrap="square" lIns="0" tIns="0" rIns="0" bIns="0" anchor="t" anchorCtr="0"/>
            <a:lstStyle/>
            <a:p>
              <a:pPr algn="l">
                <a:lnSpc>
                  <a:spcPts val="3000"/>
                </a:lnSpc>
              </a:pPr>
              <a:r>
                <a:rPr lang="en-US" sz="2400" b="1" dirty="0">
                  <a:solidFill>
                    <a:schemeClr val="accent1"/>
                  </a:solidFill>
                  <a:latin typeface="+mn-lt"/>
                  <a:ea typeface="+mn-ea"/>
                  <a:cs typeface="+mn-cs"/>
                </a:rPr>
                <a:t>Shared truth, private evidence.</a:t>
              </a:r>
            </a:p>
          </p:txBody>
        </p:sp>
        <p:sp>
          <p:nvSpPr>
            <p:cNvPr id="13" name="TextBox 13"/>
            <p:cNvSpPr txBox="1"/>
            <p:nvPr/>
          </p:nvSpPr>
          <p:spPr>
            <a:xfrm>
              <a:off x="600456" y="4263390"/>
              <a:ext cx="3321558" cy="961644"/>
            </a:xfrm>
            <a:prstGeom prst="rect">
              <a:avLst/>
            </a:prstGeom>
            <a:noFill/>
            <a:ln>
              <a:noFill/>
            </a:ln>
          </p:spPr>
          <p:txBody>
            <a:bodyPr wrap="square" lIns="0" tIns="0" rIns="0" bIns="0" anchor="t" anchorCtr="0"/>
            <a:lstStyle/>
            <a:p>
              <a:pPr algn="l">
                <a:lnSpc>
                  <a:spcPts val="2400"/>
                </a:lnSpc>
              </a:pPr>
              <a:r>
                <a:rPr lang="en-US" sz="1800" dirty="0">
                  <a:solidFill>
                    <a:schemeClr val="dk1"/>
                  </a:solidFill>
                  <a:latin typeface="+mn-lt"/>
                  <a:ea typeface="+mn-ea"/>
                  <a:cs typeface="+mn-cs"/>
                </a:rPr>
                <a:t>A Hyperledger Fabric PoC for auditable custody, cold-chain breaches and recalls.</a:t>
              </a:r>
            </a:p>
          </p:txBody>
        </p:sp>
      </p:grpSp>
      <p:grpSp>
        <p:nvGrpSpPr>
          <p:cNvPr id="32" name="Group 32"/>
          <p:cNvGrpSpPr/>
          <p:nvPr/>
        </p:nvGrpSpPr>
        <p:grpSpPr>
          <a:xfrm>
            <a:off x="5210556" y="1263968"/>
            <a:ext cx="6371844" cy="3955732"/>
            <a:chOff x="5210556" y="1263968"/>
            <a:chExt cx="6371844" cy="3955732"/>
          </a:xfrm>
        </p:grpSpPr>
        <p:sp>
          <p:nvSpPr>
            <p:cNvPr id="15" name="TextBox 15"/>
            <p:cNvSpPr txBox="1"/>
            <p:nvPr/>
          </p:nvSpPr>
          <p:spPr>
            <a:xfrm>
              <a:off x="5212842" y="1263968"/>
              <a:ext cx="2171106"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onsolas"/>
                  <a:ea typeface="Consolas"/>
                  <a:cs typeface="Consolas"/>
                </a:rPr>
                <a:t>TEAM RESPONSIBILITIES</a:t>
              </a:r>
            </a:p>
          </p:txBody>
        </p:sp>
        <p:sp>
          <p:nvSpPr>
            <p:cNvPr id="16" name="Line 16"/>
            <p:cNvSpPr/>
            <p:nvPr/>
          </p:nvSpPr>
          <p:spPr>
            <a:xfrm>
              <a:off x="5219700" y="1676400"/>
              <a:ext cx="6362700" cy="9525"/>
            </a:xfrm>
            <a:custGeom>
              <a:avLst/>
              <a:gdLst/>
              <a:ahLst/>
              <a:cxnLst/>
              <a:rect l="l" t="t" r="r" b="b"/>
              <a:pathLst>
                <a:path w="6362700" h="9525">
                  <a:moveTo>
                    <a:pt x="0" y="0"/>
                  </a:moveTo>
                  <a:lnTo>
                    <a:pt x="6362700" y="0"/>
                  </a:lnTo>
                </a:path>
              </a:pathLst>
            </a:custGeom>
            <a:noFill/>
            <a:ln w="19050">
              <a:solidFill>
                <a:schemeClr val="accent1"/>
              </a:solidFill>
            </a:ln>
          </p:spPr>
          <p:txBody>
            <a:bodyPr/>
            <a:lstStyle/>
            <a:p>
              <a:endParaRPr lang="en-US"/>
            </a:p>
          </p:txBody>
        </p:sp>
        <p:sp>
          <p:nvSpPr>
            <p:cNvPr id="17" name="TextBox 17"/>
            <p:cNvSpPr txBox="1"/>
            <p:nvPr/>
          </p:nvSpPr>
          <p:spPr>
            <a:xfrm>
              <a:off x="5210556" y="1815465"/>
              <a:ext cx="370038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01 Yan, Chaoliang (Lawrence)</a:t>
              </a:r>
            </a:p>
          </p:txBody>
        </p:sp>
        <p:sp>
          <p:nvSpPr>
            <p:cNvPr id="18" name="TextBox 18"/>
            <p:cNvSpPr txBox="1"/>
            <p:nvPr/>
          </p:nvSpPr>
          <p:spPr>
            <a:xfrm>
              <a:off x="10287000" y="1857375"/>
              <a:ext cx="10287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z5643222</a:t>
              </a:r>
            </a:p>
          </p:txBody>
        </p:sp>
        <p:sp>
          <p:nvSpPr>
            <p:cNvPr id="19" name="TextBox 19"/>
            <p:cNvSpPr txBox="1"/>
            <p:nvPr/>
          </p:nvSpPr>
          <p:spPr>
            <a:xfrm>
              <a:off x="5676900" y="2171700"/>
              <a:ext cx="5638800" cy="24765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batch-registry · state machine · ABAC · private data</a:t>
              </a:r>
            </a:p>
          </p:txBody>
        </p:sp>
        <p:sp>
          <p:nvSpPr>
            <p:cNvPr id="20" name="Line 20"/>
            <p:cNvSpPr/>
            <p:nvPr/>
          </p:nvSpPr>
          <p:spPr>
            <a:xfrm>
              <a:off x="5219700" y="2609850"/>
              <a:ext cx="6362700" cy="9525"/>
            </a:xfrm>
            <a:custGeom>
              <a:avLst/>
              <a:gdLst/>
              <a:ahLst/>
              <a:cxnLst/>
              <a:rect l="l" t="t" r="r" b="b"/>
              <a:pathLst>
                <a:path w="6362700" h="9525">
                  <a:moveTo>
                    <a:pt x="0" y="0"/>
                  </a:moveTo>
                  <a:lnTo>
                    <a:pt x="6362700" y="0"/>
                  </a:lnTo>
                </a:path>
              </a:pathLst>
            </a:custGeom>
            <a:noFill/>
            <a:ln w="9525">
              <a:solidFill>
                <a:srgbClr val="CBD5E1"/>
              </a:solidFill>
            </a:ln>
          </p:spPr>
          <p:txBody>
            <a:bodyPr/>
            <a:lstStyle/>
            <a:p>
              <a:endParaRPr lang="en-US"/>
            </a:p>
          </p:txBody>
        </p:sp>
        <p:sp>
          <p:nvSpPr>
            <p:cNvPr id="21" name="TextBox 21"/>
            <p:cNvSpPr txBox="1"/>
            <p:nvPr/>
          </p:nvSpPr>
          <p:spPr>
            <a:xfrm>
              <a:off x="5210556" y="2748915"/>
              <a:ext cx="201245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02 Hu, Zhaoheng</a:t>
              </a:r>
            </a:p>
          </p:txBody>
        </p:sp>
        <p:sp>
          <p:nvSpPr>
            <p:cNvPr id="22" name="TextBox 22"/>
            <p:cNvSpPr txBox="1"/>
            <p:nvPr/>
          </p:nvSpPr>
          <p:spPr>
            <a:xfrm>
              <a:off x="10287000" y="2790825"/>
              <a:ext cx="10287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z5357529</a:t>
              </a:r>
            </a:p>
          </p:txBody>
        </p:sp>
        <p:sp>
          <p:nvSpPr>
            <p:cNvPr id="23" name="TextBox 23"/>
            <p:cNvSpPr txBox="1"/>
            <p:nvPr/>
          </p:nvSpPr>
          <p:spPr>
            <a:xfrm>
              <a:off x="5676900" y="3105150"/>
              <a:ext cx="5638800" cy="24765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compliance · breach counter · FlagBatch · BFS recall</a:t>
              </a:r>
            </a:p>
          </p:txBody>
        </p:sp>
        <p:sp>
          <p:nvSpPr>
            <p:cNvPr id="24" name="Line 24"/>
            <p:cNvSpPr/>
            <p:nvPr/>
          </p:nvSpPr>
          <p:spPr>
            <a:xfrm>
              <a:off x="5219700" y="3543300"/>
              <a:ext cx="6362700" cy="9525"/>
            </a:xfrm>
            <a:custGeom>
              <a:avLst/>
              <a:gdLst/>
              <a:ahLst/>
              <a:cxnLst/>
              <a:rect l="l" t="t" r="r" b="b"/>
              <a:pathLst>
                <a:path w="6362700" h="9525">
                  <a:moveTo>
                    <a:pt x="0" y="0"/>
                  </a:moveTo>
                  <a:lnTo>
                    <a:pt x="6362700" y="0"/>
                  </a:lnTo>
                </a:path>
              </a:pathLst>
            </a:custGeom>
            <a:noFill/>
            <a:ln w="9525">
              <a:solidFill>
                <a:srgbClr val="CBD5E1"/>
              </a:solidFill>
            </a:ln>
          </p:spPr>
          <p:txBody>
            <a:bodyPr/>
            <a:lstStyle/>
            <a:p>
              <a:endParaRPr lang="en-US"/>
            </a:p>
          </p:txBody>
        </p:sp>
        <p:sp>
          <p:nvSpPr>
            <p:cNvPr id="25" name="TextBox 25"/>
            <p:cNvSpPr txBox="1"/>
            <p:nvPr/>
          </p:nvSpPr>
          <p:spPr>
            <a:xfrm>
              <a:off x="5210556" y="3682365"/>
              <a:ext cx="211100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03 Lin, Chi-Hsien</a:t>
              </a:r>
            </a:p>
          </p:txBody>
        </p:sp>
        <p:sp>
          <p:nvSpPr>
            <p:cNvPr id="26" name="TextBox 26"/>
            <p:cNvSpPr txBox="1"/>
            <p:nvPr/>
          </p:nvSpPr>
          <p:spPr>
            <a:xfrm>
              <a:off x="10287000" y="3724275"/>
              <a:ext cx="10287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z5620437</a:t>
              </a:r>
            </a:p>
          </p:txBody>
        </p:sp>
        <p:sp>
          <p:nvSpPr>
            <p:cNvPr id="27" name="TextBox 27"/>
            <p:cNvSpPr txBox="1"/>
            <p:nvPr/>
          </p:nvSpPr>
          <p:spPr>
            <a:xfrm>
              <a:off x="5676900" y="4038600"/>
              <a:ext cx="5638800" cy="24765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off-chain · aggregation · storage integrity · unit tests</a:t>
              </a:r>
            </a:p>
          </p:txBody>
        </p:sp>
        <p:sp>
          <p:nvSpPr>
            <p:cNvPr id="28" name="Line 28"/>
            <p:cNvSpPr/>
            <p:nvPr/>
          </p:nvSpPr>
          <p:spPr>
            <a:xfrm>
              <a:off x="5219700" y="4476750"/>
              <a:ext cx="6362700" cy="9525"/>
            </a:xfrm>
            <a:custGeom>
              <a:avLst/>
              <a:gdLst/>
              <a:ahLst/>
              <a:cxnLst/>
              <a:rect l="l" t="t" r="r" b="b"/>
              <a:pathLst>
                <a:path w="6362700" h="9525">
                  <a:moveTo>
                    <a:pt x="0" y="0"/>
                  </a:moveTo>
                  <a:lnTo>
                    <a:pt x="6362700" y="0"/>
                  </a:lnTo>
                </a:path>
              </a:pathLst>
            </a:custGeom>
            <a:noFill/>
            <a:ln w="9525">
              <a:solidFill>
                <a:srgbClr val="CBD5E1"/>
              </a:solidFill>
            </a:ln>
          </p:spPr>
          <p:txBody>
            <a:bodyPr/>
            <a:lstStyle/>
            <a:p>
              <a:endParaRPr lang="en-US"/>
            </a:p>
          </p:txBody>
        </p:sp>
        <p:sp>
          <p:nvSpPr>
            <p:cNvPr id="29" name="TextBox 29"/>
            <p:cNvSpPr txBox="1"/>
            <p:nvPr/>
          </p:nvSpPr>
          <p:spPr>
            <a:xfrm>
              <a:off x="5210556" y="4615815"/>
              <a:ext cx="194812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04 Huang, Neier</a:t>
              </a:r>
            </a:p>
          </p:txBody>
        </p:sp>
        <p:sp>
          <p:nvSpPr>
            <p:cNvPr id="30" name="TextBox 30"/>
            <p:cNvSpPr txBox="1"/>
            <p:nvPr/>
          </p:nvSpPr>
          <p:spPr>
            <a:xfrm>
              <a:off x="10287000" y="4657725"/>
              <a:ext cx="10287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z5400040</a:t>
              </a:r>
            </a:p>
          </p:txBody>
        </p:sp>
        <p:sp>
          <p:nvSpPr>
            <p:cNvPr id="31" name="TextBox 31"/>
            <p:cNvSpPr txBox="1"/>
            <p:nvPr/>
          </p:nvSpPr>
          <p:spPr>
            <a:xfrm>
              <a:off x="5676900" y="4972050"/>
              <a:ext cx="5638800" cy="247650"/>
            </a:xfrm>
            <a:prstGeom prst="rect">
              <a:avLst/>
            </a:prstGeom>
            <a:noFill/>
            <a:ln>
              <a:noFill/>
            </a:ln>
          </p:spPr>
          <p:txBody>
            <a:bodyPr wrap="square" lIns="0" tIns="25718" rIns="0" bIns="0" anchor="t" anchorCtr="0">
              <a:noAutofit/>
            </a:bodyPr>
            <a:lstStyle/>
            <a:p>
              <a:pPr algn="l"/>
              <a:r>
                <a:rPr lang="en-US" sz="1350" dirty="0">
                  <a:solidFill>
                    <a:schemeClr val="dk1"/>
                  </a:solidFill>
                  <a:latin typeface="+mn-lt"/>
                  <a:ea typeface="+mn-ea"/>
                  <a:cs typeface="+mn-cs"/>
                </a:rPr>
                <a:t>clients + network · identities · CLIs · lifecycle scripts</a:t>
              </a:r>
            </a:p>
          </p:txBody>
        </p:sp>
      </p:grpSp>
      <p:grpSp>
        <p:nvGrpSpPr>
          <p:cNvPr id="38" name="Group 38"/>
          <p:cNvGrpSpPr/>
          <p:nvPr/>
        </p:nvGrpSpPr>
        <p:grpSpPr>
          <a:xfrm>
            <a:off x="602742" y="5657850"/>
            <a:ext cx="10979658" cy="956501"/>
            <a:chOff x="602742" y="5657850"/>
            <a:chExt cx="10979658" cy="956501"/>
          </a:xfrm>
        </p:grpSpPr>
        <p:sp>
          <p:nvSpPr>
            <p:cNvPr id="33" name="Rectangle 33"/>
            <p:cNvSpPr/>
            <p:nvPr/>
          </p:nvSpPr>
          <p:spPr>
            <a:xfrm>
              <a:off x="609600" y="5657850"/>
              <a:ext cx="10972800" cy="609600"/>
            </a:xfrm>
            <a:prstGeom prst="rect">
              <a:avLst/>
            </a:prstGeom>
            <a:solidFill>
              <a:schemeClr val="accent5"/>
            </a:solidFill>
            <a:ln>
              <a:noFill/>
            </a:ln>
          </p:spPr>
          <p:txBody>
            <a:bodyPr/>
            <a:lstStyle/>
            <a:p>
              <a:endParaRPr lang="en-US"/>
            </a:p>
          </p:txBody>
        </p:sp>
        <p:sp>
          <p:nvSpPr>
            <p:cNvPr id="34" name="Rectangle 34"/>
            <p:cNvSpPr/>
            <p:nvPr/>
          </p:nvSpPr>
          <p:spPr>
            <a:xfrm>
              <a:off x="609600" y="5657850"/>
              <a:ext cx="76200" cy="609600"/>
            </a:xfrm>
            <a:prstGeom prst="rect">
              <a:avLst/>
            </a:prstGeom>
            <a:solidFill>
              <a:schemeClr val="accent2"/>
            </a:solidFill>
            <a:ln>
              <a:noFill/>
            </a:ln>
          </p:spPr>
          <p:txBody>
            <a:bodyPr/>
            <a:lstStyle/>
            <a:p>
              <a:endParaRPr lang="en-US"/>
            </a:p>
          </p:txBody>
        </p:sp>
        <p:sp>
          <p:nvSpPr>
            <p:cNvPr id="35" name="TextBox 35"/>
            <p:cNvSpPr txBox="1"/>
            <p:nvPr/>
          </p:nvSpPr>
          <p:spPr>
            <a:xfrm>
              <a:off x="888492" y="5893118"/>
              <a:ext cx="142509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onsolas"/>
                  <a:ea typeface="Consolas"/>
                  <a:cs typeface="Consolas"/>
                </a:rPr>
                <a:t>ONE LIVE FLOW</a:t>
              </a:r>
            </a:p>
          </p:txBody>
        </p:sp>
        <p:sp>
          <p:nvSpPr>
            <p:cNvPr id="36" name="TextBox 36"/>
            <p:cNvSpPr txBox="1"/>
            <p:nvPr/>
          </p:nvSpPr>
          <p:spPr>
            <a:xfrm>
              <a:off x="5715000" y="5857875"/>
              <a:ext cx="5638800" cy="285750"/>
            </a:xfrm>
            <a:prstGeom prst="rect">
              <a:avLst/>
            </a:prstGeom>
            <a:noFill/>
            <a:ln>
              <a:noFill/>
            </a:ln>
          </p:spPr>
          <p:txBody>
            <a:bodyPr wrap="square" lIns="0" tIns="19050" rIns="0" bIns="0" anchor="t" anchorCtr="0">
              <a:noAutofit/>
            </a:bodyPr>
            <a:lstStyle/>
            <a:p>
              <a:pPr algn="r"/>
              <a:r>
                <a:rPr lang="en-US" sz="1500" b="1" dirty="0">
                  <a:solidFill>
                    <a:schemeClr val="dk1"/>
                  </a:solidFill>
                  <a:latin typeface="+mn-lt"/>
                  <a:ea typeface="+mn-ea"/>
                  <a:cs typeface="+mn-cs"/>
                </a:rPr>
                <a:t>REGISTER → TRANSFER → DETECT → RECALL</a:t>
              </a:r>
            </a:p>
          </p:txBody>
        </p:sp>
        <p:sp>
          <p:nvSpPr>
            <p:cNvPr id="37" name="TextBox 37"/>
            <p:cNvSpPr txBox="1"/>
            <p:nvPr/>
          </p:nvSpPr>
          <p:spPr>
            <a:xfrm>
              <a:off x="602742" y="6350318"/>
              <a:ext cx="518774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Four owned workstreams. One integrated demonstration.</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44818"/>
            <a:ext cx="10988040" cy="1132522"/>
            <a:chOff x="594360" y="444818"/>
            <a:chExt cx="10988040" cy="1132522"/>
          </a:xfrm>
        </p:grpSpPr>
        <p:sp>
          <p:nvSpPr>
            <p:cNvPr id="2" name="TextBox 2"/>
            <p:cNvSpPr txBox="1"/>
            <p:nvPr/>
          </p:nvSpPr>
          <p:spPr>
            <a:xfrm>
              <a:off x="602742" y="444818"/>
              <a:ext cx="2624762"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onsolas"/>
                  <a:ea typeface="Consolas"/>
                  <a:cs typeface="Consolas"/>
                </a:rPr>
                <a:t>02 / FINAL SOLUTION DESIGN</a:t>
              </a:r>
            </a:p>
          </p:txBody>
        </p:sp>
        <p:sp>
          <p:nvSpPr>
            <p:cNvPr id="3" name="TextBox 3"/>
            <p:cNvSpPr txBox="1"/>
            <p:nvPr/>
          </p:nvSpPr>
          <p:spPr>
            <a:xfrm>
              <a:off x="594360" y="590550"/>
              <a:ext cx="8651558" cy="986790"/>
            </a:xfrm>
            <a:prstGeom prst="rect">
              <a:avLst/>
            </a:prstGeom>
            <a:noFill/>
            <a:ln>
              <a:noFill/>
            </a:ln>
          </p:spPr>
          <p:txBody>
            <a:bodyPr wrap="square" lIns="0" tIns="0" rIns="0" bIns="0" anchor="t" anchorCtr="0"/>
            <a:lstStyle/>
            <a:p>
              <a:pPr algn="l">
                <a:lnSpc>
                  <a:spcPts val="3150"/>
                </a:lnSpc>
              </a:pPr>
              <a:r>
                <a:rPr lang="en-US" sz="3000" b="1" dirty="0">
                  <a:solidFill>
                    <a:schemeClr val="dk1"/>
                  </a:solidFill>
                  <a:latin typeface="+mn-lt"/>
                  <a:ea typeface="+mn-ea"/>
                  <a:cs typeface="+mn-cs"/>
                </a:rPr>
                <a:t>Trust stays on-chain; data and computation stay off-chain</a:t>
              </a:r>
            </a:p>
          </p:txBody>
        </p:sp>
        <p:sp>
          <p:nvSpPr>
            <p:cNvPr id="4" name="Line 4"/>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chemeClr val="accent1"/>
              </a:solidFill>
            </a:ln>
          </p:spPr>
          <p:txBody>
            <a:bodyPr/>
            <a:lstStyle/>
            <a:p>
              <a:endParaRPr lang="en-US"/>
            </a:p>
          </p:txBody>
        </p:sp>
      </p:grpSp>
      <p:grpSp>
        <p:nvGrpSpPr>
          <p:cNvPr id="11" name="Group 11"/>
          <p:cNvGrpSpPr/>
          <p:nvPr/>
        </p:nvGrpSpPr>
        <p:grpSpPr>
          <a:xfrm>
            <a:off x="603504" y="1562100"/>
            <a:ext cx="10978896" cy="819150"/>
            <a:chOff x="603504" y="1562100"/>
            <a:chExt cx="10978896" cy="819150"/>
          </a:xfrm>
        </p:grpSpPr>
        <p:sp>
          <p:nvSpPr>
            <p:cNvPr id="6" name="TextBox 6"/>
            <p:cNvSpPr txBox="1"/>
            <p:nvPr/>
          </p:nvSpPr>
          <p:spPr>
            <a:xfrm>
              <a:off x="603504" y="1642110"/>
              <a:ext cx="65739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Consolas"/>
                  <a:ea typeface="Consolas"/>
                  <a:cs typeface="Consolas"/>
                </a:rPr>
                <a:t>CLIENTS</a:t>
              </a:r>
            </a:p>
          </p:txBody>
        </p:sp>
        <p:sp>
          <p:nvSpPr>
            <p:cNvPr id="7" name="Rectangle 7"/>
            <p:cNvSpPr/>
            <p:nvPr/>
          </p:nvSpPr>
          <p:spPr>
            <a:xfrm>
              <a:off x="1619250" y="1562100"/>
              <a:ext cx="9963150" cy="590550"/>
            </a:xfrm>
            <a:prstGeom prst="rect">
              <a:avLst/>
            </a:prstGeom>
            <a:solidFill>
              <a:schemeClr val="accent5"/>
            </a:solidFill>
            <a:ln>
              <a:noFill/>
            </a:ln>
          </p:spPr>
          <p:txBody>
            <a:bodyPr/>
            <a:lstStyle/>
            <a:p>
              <a:endParaRPr lang="en-US"/>
            </a:p>
          </p:txBody>
        </p:sp>
        <p:sp>
          <p:nvSpPr>
            <p:cNvPr id="8" name="TextBox 8"/>
            <p:cNvSpPr txBox="1"/>
            <p:nvPr/>
          </p:nvSpPr>
          <p:spPr>
            <a:xfrm>
              <a:off x="1809750" y="1619250"/>
              <a:ext cx="2857500" cy="209550"/>
            </a:xfrm>
            <a:prstGeom prst="rect">
              <a:avLst/>
            </a:prstGeom>
            <a:noFill/>
            <a:ln>
              <a:noFill/>
            </a:ln>
          </p:spPr>
          <p:txBody>
            <a:bodyPr wrap="square" lIns="0" tIns="20002" rIns="0" bIns="0" anchor="t" anchorCtr="0">
              <a:noAutofit/>
            </a:bodyPr>
            <a:lstStyle/>
            <a:p>
              <a:pPr algn="l"/>
              <a:r>
                <a:rPr lang="en-US" sz="1050" b="1" dirty="0">
                  <a:solidFill>
                    <a:schemeClr val="accent3"/>
                  </a:solidFill>
                  <a:latin typeface="Consolas"/>
                  <a:ea typeface="Consolas"/>
                  <a:cs typeface="Consolas"/>
                </a:rPr>
                <a:t>OWNER · HUANG, NEIER</a:t>
              </a:r>
            </a:p>
          </p:txBody>
        </p:sp>
        <p:sp>
          <p:nvSpPr>
            <p:cNvPr id="9" name="TextBox 9"/>
            <p:cNvSpPr txBox="1"/>
            <p:nvPr/>
          </p:nvSpPr>
          <p:spPr>
            <a:xfrm>
              <a:off x="3805899" y="1822132"/>
              <a:ext cx="5589852"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Producer · Transporter · Warehouse · Regulator</a:t>
              </a:r>
            </a:p>
          </p:txBody>
        </p:sp>
        <p:sp>
          <p:nvSpPr>
            <p:cNvPr id="10" name="Line 10"/>
            <p:cNvSpPr/>
            <p:nvPr/>
          </p:nvSpPr>
          <p:spPr>
            <a:xfrm>
              <a:off x="6600825" y="2152650"/>
              <a:ext cx="9525" cy="228600"/>
            </a:xfrm>
            <a:custGeom>
              <a:avLst/>
              <a:gdLst/>
              <a:ahLst/>
              <a:cxnLst/>
              <a:rect l="l" t="t" r="r" b="b"/>
              <a:pathLst>
                <a:path w="9525" h="228600">
                  <a:moveTo>
                    <a:pt x="0" y="0"/>
                  </a:moveTo>
                  <a:lnTo>
                    <a:pt x="0" y="228600"/>
                  </a:lnTo>
                </a:path>
              </a:pathLst>
            </a:custGeom>
            <a:noFill/>
            <a:ln w="28575">
              <a:solidFill>
                <a:schemeClr val="accent3"/>
              </a:solidFill>
            </a:ln>
          </p:spPr>
          <p:txBody>
            <a:bodyPr/>
            <a:lstStyle/>
            <a:p>
              <a:endParaRPr lang="en-US"/>
            </a:p>
          </p:txBody>
        </p:sp>
      </p:grpSp>
      <p:grpSp>
        <p:nvGrpSpPr>
          <p:cNvPr id="16" name="Group 16"/>
          <p:cNvGrpSpPr/>
          <p:nvPr/>
        </p:nvGrpSpPr>
        <p:grpSpPr>
          <a:xfrm>
            <a:off x="2800350" y="2381250"/>
            <a:ext cx="7600950" cy="762000"/>
            <a:chOff x="2800350" y="2381250"/>
            <a:chExt cx="7600950" cy="762000"/>
          </a:xfrm>
        </p:grpSpPr>
        <p:sp>
          <p:nvSpPr>
            <p:cNvPr id="12" name="Rectangle 12"/>
            <p:cNvSpPr/>
            <p:nvPr/>
          </p:nvSpPr>
          <p:spPr>
            <a:xfrm>
              <a:off x="2800350" y="2381250"/>
              <a:ext cx="7600950" cy="514350"/>
            </a:xfrm>
            <a:prstGeom prst="rect">
              <a:avLst/>
            </a:prstGeom>
            <a:solidFill>
              <a:schemeClr val="lt1"/>
            </a:solidFill>
            <a:ln w="19050">
              <a:solidFill>
                <a:schemeClr val="accent1"/>
              </a:solidFill>
            </a:ln>
          </p:spPr>
          <p:txBody>
            <a:bodyPr/>
            <a:lstStyle/>
            <a:p>
              <a:endParaRPr lang="en-US"/>
            </a:p>
          </p:txBody>
        </p:sp>
        <p:sp>
          <p:nvSpPr>
            <p:cNvPr id="13" name="TextBox 13"/>
            <p:cNvSpPr txBox="1"/>
            <p:nvPr/>
          </p:nvSpPr>
          <p:spPr>
            <a:xfrm>
              <a:off x="3714750" y="2552700"/>
              <a:ext cx="5772150" cy="228600"/>
            </a:xfrm>
            <a:prstGeom prst="rect">
              <a:avLst/>
            </a:prstGeom>
            <a:noFill/>
            <a:ln>
              <a:noFill/>
            </a:ln>
          </p:spPr>
          <p:txBody>
            <a:bodyPr wrap="square" lIns="0" tIns="22860" rIns="0" bIns="0" anchor="t" anchorCtr="0">
              <a:noAutofit/>
            </a:bodyPr>
            <a:lstStyle/>
            <a:p>
              <a:pPr algn="ctr"/>
              <a:r>
                <a:rPr lang="en-US" sz="1200" b="1" dirty="0">
                  <a:solidFill>
                    <a:schemeClr val="accent1"/>
                  </a:solidFill>
                  <a:latin typeface="Consolas"/>
                  <a:ea typeface="Consolas"/>
                  <a:cs typeface="Consolas"/>
                </a:rPr>
                <a:t>HUANG · FABRIC GATEWAY · gRPC · SIGNED IDENTITIES</a:t>
              </a:r>
            </a:p>
          </p:txBody>
        </p:sp>
        <p:sp>
          <p:nvSpPr>
            <p:cNvPr id="14" name="Line 14"/>
            <p:cNvSpPr/>
            <p:nvPr/>
          </p:nvSpPr>
          <p:spPr>
            <a:xfrm>
              <a:off x="4191000" y="2895600"/>
              <a:ext cx="9525" cy="247650"/>
            </a:xfrm>
            <a:custGeom>
              <a:avLst/>
              <a:gdLst/>
              <a:ahLst/>
              <a:cxnLst/>
              <a:rect l="l" t="t" r="r" b="b"/>
              <a:pathLst>
                <a:path w="9525" h="247650">
                  <a:moveTo>
                    <a:pt x="0" y="0"/>
                  </a:moveTo>
                  <a:lnTo>
                    <a:pt x="0" y="247650"/>
                  </a:lnTo>
                </a:path>
              </a:pathLst>
            </a:custGeom>
            <a:noFill/>
            <a:ln w="28575">
              <a:solidFill>
                <a:schemeClr val="accent1"/>
              </a:solidFill>
            </a:ln>
          </p:spPr>
          <p:txBody>
            <a:bodyPr/>
            <a:lstStyle/>
            <a:p>
              <a:endParaRPr lang="en-US"/>
            </a:p>
          </p:txBody>
        </p:sp>
        <p:sp>
          <p:nvSpPr>
            <p:cNvPr id="15" name="Line 15"/>
            <p:cNvSpPr/>
            <p:nvPr/>
          </p:nvSpPr>
          <p:spPr>
            <a:xfrm>
              <a:off x="8991600" y="2895600"/>
              <a:ext cx="9525" cy="247650"/>
            </a:xfrm>
            <a:custGeom>
              <a:avLst/>
              <a:gdLst/>
              <a:ahLst/>
              <a:cxnLst/>
              <a:rect l="l" t="t" r="r" b="b"/>
              <a:pathLst>
                <a:path w="9525" h="247650">
                  <a:moveTo>
                    <a:pt x="0" y="0"/>
                  </a:moveTo>
                  <a:lnTo>
                    <a:pt x="0" y="247650"/>
                  </a:lnTo>
                </a:path>
              </a:pathLst>
            </a:custGeom>
            <a:noFill/>
            <a:ln w="28575">
              <a:solidFill>
                <a:schemeClr val="accent1"/>
              </a:solidFill>
            </a:ln>
          </p:spPr>
          <p:txBody>
            <a:bodyPr/>
            <a:lstStyle/>
            <a:p>
              <a:endParaRPr lang="en-US"/>
            </a:p>
          </p:txBody>
        </p:sp>
      </p:grpSp>
      <p:grpSp>
        <p:nvGrpSpPr>
          <p:cNvPr id="34" name="Group 34"/>
          <p:cNvGrpSpPr/>
          <p:nvPr/>
        </p:nvGrpSpPr>
        <p:grpSpPr>
          <a:xfrm>
            <a:off x="602742" y="3188018"/>
            <a:ext cx="10979658" cy="1231582"/>
            <a:chOff x="602742" y="3188018"/>
            <a:chExt cx="10979658" cy="1231582"/>
          </a:xfrm>
        </p:grpSpPr>
        <p:sp>
          <p:nvSpPr>
            <p:cNvPr id="17" name="TextBox 17"/>
            <p:cNvSpPr txBox="1"/>
            <p:nvPr/>
          </p:nvSpPr>
          <p:spPr>
            <a:xfrm>
              <a:off x="602742" y="3188018"/>
              <a:ext cx="240297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onsolas"/>
                  <a:ea typeface="Consolas"/>
                  <a:cs typeface="Consolas"/>
                </a:rPr>
                <a:t>ON-CHAIN BUSINESS RULES</a:t>
              </a:r>
            </a:p>
          </p:txBody>
        </p:sp>
        <p:sp>
          <p:nvSpPr>
            <p:cNvPr id="18" name="Rectangle 18"/>
            <p:cNvSpPr/>
            <p:nvPr/>
          </p:nvSpPr>
          <p:spPr>
            <a:xfrm>
              <a:off x="609600" y="3524250"/>
              <a:ext cx="4572000" cy="895350"/>
            </a:xfrm>
            <a:prstGeom prst="rect">
              <a:avLst/>
            </a:prstGeom>
            <a:solidFill>
              <a:schemeClr val="accent5"/>
            </a:solidFill>
            <a:ln w="19050">
              <a:solidFill>
                <a:schemeClr val="accent1"/>
              </a:solidFill>
            </a:ln>
          </p:spPr>
          <p:txBody>
            <a:bodyPr/>
            <a:lstStyle/>
            <a:p>
              <a:endParaRPr lang="en-US"/>
            </a:p>
          </p:txBody>
        </p:sp>
        <p:grpSp>
          <p:nvGrpSpPr>
            <p:cNvPr id="22" name="Group 22"/>
            <p:cNvGrpSpPr/>
            <p:nvPr/>
          </p:nvGrpSpPr>
          <p:grpSpPr>
            <a:xfrm>
              <a:off x="917575" y="3762375"/>
              <a:ext cx="222250" cy="285750"/>
              <a:chOff x="917575" y="3762375"/>
              <a:chExt cx="222250" cy="285750"/>
            </a:xfrm>
          </p:grpSpPr>
          <p:sp>
            <p:nvSpPr>
              <p:cNvPr id="19" name="Freeform 19"/>
              <p:cNvSpPr/>
              <p:nvPr/>
            </p:nvSpPr>
            <p:spPr>
              <a:xfrm>
                <a:off x="917575" y="3889375"/>
                <a:ext cx="222250" cy="158750"/>
              </a:xfrm>
              <a:custGeom>
                <a:avLst/>
                <a:gdLst/>
                <a:ahLst/>
                <a:cxnLst/>
                <a:rect l="l" t="t" r="r" b="b"/>
                <a:pathLst>
                  <a:path w="222250" h="158750">
                    <a:moveTo>
                      <a:pt x="0" y="31750"/>
                    </a:moveTo>
                    <a:cubicBezTo>
                      <a:pt x="0" y="14215"/>
                      <a:pt x="14215" y="0"/>
                      <a:pt x="31750" y="0"/>
                    </a:cubicBezTo>
                    <a:lnTo>
                      <a:pt x="190500" y="0"/>
                    </a:lnTo>
                    <a:cubicBezTo>
                      <a:pt x="208035" y="0"/>
                      <a:pt x="222250" y="14215"/>
                      <a:pt x="222250" y="31750"/>
                    </a:cubicBezTo>
                    <a:lnTo>
                      <a:pt x="222250" y="127000"/>
                    </a:lnTo>
                    <a:cubicBezTo>
                      <a:pt x="222250" y="144535"/>
                      <a:pt x="208035" y="158750"/>
                      <a:pt x="190500" y="158750"/>
                    </a:cubicBezTo>
                    <a:lnTo>
                      <a:pt x="31750" y="158750"/>
                    </a:lnTo>
                    <a:cubicBezTo>
                      <a:pt x="14215" y="158750"/>
                      <a:pt x="0" y="144535"/>
                      <a:pt x="0" y="127000"/>
                    </a:cubicBezTo>
                    <a:lnTo>
                      <a:pt x="0" y="31750"/>
                    </a:lnTo>
                  </a:path>
                </a:pathLst>
              </a:custGeom>
              <a:noFill/>
              <a:ln w="31750">
                <a:solidFill>
                  <a:schemeClr val="accent1"/>
                </a:solidFill>
              </a:ln>
            </p:spPr>
            <p:txBody>
              <a:bodyPr/>
              <a:lstStyle/>
              <a:p>
                <a:endParaRPr lang="en-US"/>
              </a:p>
            </p:txBody>
          </p:sp>
          <p:sp>
            <p:nvSpPr>
              <p:cNvPr id="20" name="Freeform 20"/>
              <p:cNvSpPr/>
              <p:nvPr/>
            </p:nvSpPr>
            <p:spPr>
              <a:xfrm>
                <a:off x="1012825" y="39528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1"/>
                </a:solidFill>
              </a:ln>
            </p:spPr>
            <p:txBody>
              <a:bodyPr/>
              <a:lstStyle/>
              <a:p>
                <a:endParaRPr lang="en-US"/>
              </a:p>
            </p:txBody>
          </p:sp>
          <p:sp>
            <p:nvSpPr>
              <p:cNvPr id="21" name="Freeform 21"/>
              <p:cNvSpPr/>
              <p:nvPr/>
            </p:nvSpPr>
            <p:spPr>
              <a:xfrm>
                <a:off x="965200" y="3762375"/>
                <a:ext cx="127000" cy="127000"/>
              </a:xfrm>
              <a:custGeom>
                <a:avLst/>
                <a:gdLst/>
                <a:ahLst/>
                <a:cxnLst/>
                <a:rect l="l" t="t" r="r" b="b"/>
                <a:pathLst>
                  <a:path w="127000" h="127000">
                    <a:moveTo>
                      <a:pt x="0" y="127000"/>
                    </a:moveTo>
                    <a:lnTo>
                      <a:pt x="0" y="63500"/>
                    </a:lnTo>
                    <a:cubicBezTo>
                      <a:pt x="0" y="28430"/>
                      <a:pt x="28430" y="0"/>
                      <a:pt x="63500" y="0"/>
                    </a:cubicBezTo>
                    <a:cubicBezTo>
                      <a:pt x="98570" y="0"/>
                      <a:pt x="127000" y="28430"/>
                      <a:pt x="127000" y="63500"/>
                    </a:cubicBezTo>
                    <a:lnTo>
                      <a:pt x="127000" y="127000"/>
                    </a:lnTo>
                  </a:path>
                </a:pathLst>
              </a:custGeom>
              <a:noFill/>
              <a:ln w="31750">
                <a:solidFill>
                  <a:schemeClr val="accent1"/>
                </a:solidFill>
              </a:ln>
            </p:spPr>
            <p:txBody>
              <a:bodyPr/>
              <a:lstStyle/>
              <a:p>
                <a:endParaRPr lang="en-US"/>
              </a:p>
            </p:txBody>
          </p:sp>
        </p:grpSp>
        <p:sp>
          <p:nvSpPr>
            <p:cNvPr id="23" name="TextBox 23"/>
            <p:cNvSpPr txBox="1"/>
            <p:nvPr/>
          </p:nvSpPr>
          <p:spPr>
            <a:xfrm>
              <a:off x="1403604" y="3718560"/>
              <a:ext cx="1769262"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YAN · batch-registry</a:t>
              </a:r>
            </a:p>
          </p:txBody>
        </p:sp>
        <p:sp>
          <p:nvSpPr>
            <p:cNvPr id="24" name="TextBox 24"/>
            <p:cNvSpPr txBox="1"/>
            <p:nvPr/>
          </p:nvSpPr>
          <p:spPr>
            <a:xfrm>
              <a:off x="1401318" y="4031932"/>
              <a:ext cx="487695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Registration · custody · ABAC · private data</a:t>
              </a:r>
            </a:p>
          </p:txBody>
        </p:sp>
        <p:sp>
          <p:nvSpPr>
            <p:cNvPr id="25" name="Rectangle 25"/>
            <p:cNvSpPr/>
            <p:nvPr/>
          </p:nvSpPr>
          <p:spPr>
            <a:xfrm>
              <a:off x="7010400" y="3524250"/>
              <a:ext cx="4572000" cy="895350"/>
            </a:xfrm>
            <a:prstGeom prst="rect">
              <a:avLst/>
            </a:prstGeom>
            <a:solidFill>
              <a:schemeClr val="accent5"/>
            </a:solidFill>
            <a:ln w="19050">
              <a:solidFill>
                <a:schemeClr val="accent1"/>
              </a:solidFill>
            </a:ln>
          </p:spPr>
          <p:txBody>
            <a:bodyPr/>
            <a:lstStyle/>
            <a:p>
              <a:endParaRPr lang="en-US"/>
            </a:p>
          </p:txBody>
        </p:sp>
        <p:grpSp>
          <p:nvGrpSpPr>
            <p:cNvPr id="28" name="Group 28"/>
            <p:cNvGrpSpPr/>
            <p:nvPr/>
          </p:nvGrpSpPr>
          <p:grpSpPr>
            <a:xfrm>
              <a:off x="7265201" y="3762375"/>
              <a:ext cx="310011" cy="285751"/>
              <a:chOff x="7265201" y="3762375"/>
              <a:chExt cx="310011" cy="285751"/>
            </a:xfrm>
          </p:grpSpPr>
          <p:sp>
            <p:nvSpPr>
              <p:cNvPr id="26" name="Freeform 26"/>
              <p:cNvSpPr/>
              <p:nvPr/>
            </p:nvSpPr>
            <p:spPr>
              <a:xfrm>
                <a:off x="7265201" y="376237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chemeClr val="accent1"/>
                </a:solidFill>
              </a:ln>
            </p:spPr>
            <p:txBody>
              <a:bodyPr/>
              <a:lstStyle/>
              <a:p>
                <a:endParaRPr lang="en-US"/>
              </a:p>
            </p:txBody>
          </p:sp>
          <p:sp>
            <p:nvSpPr>
              <p:cNvPr id="27" name="Freeform 27"/>
              <p:cNvSpPr/>
              <p:nvPr/>
            </p:nvSpPr>
            <p:spPr>
              <a:xfrm>
                <a:off x="7477125" y="3984626"/>
                <a:ext cx="95250" cy="63500"/>
              </a:xfrm>
              <a:custGeom>
                <a:avLst/>
                <a:gdLst/>
                <a:ahLst/>
                <a:cxnLst/>
                <a:rect l="l" t="t" r="r" b="b"/>
                <a:pathLst>
                  <a:path w="95250" h="63500">
                    <a:moveTo>
                      <a:pt x="0" y="31750"/>
                    </a:moveTo>
                    <a:lnTo>
                      <a:pt x="31750" y="63500"/>
                    </a:lnTo>
                    <a:lnTo>
                      <a:pt x="95250" y="0"/>
                    </a:lnTo>
                  </a:path>
                </a:pathLst>
              </a:custGeom>
              <a:noFill/>
              <a:ln w="31750">
                <a:solidFill>
                  <a:schemeClr val="accent1"/>
                </a:solidFill>
              </a:ln>
            </p:spPr>
            <p:txBody>
              <a:bodyPr/>
              <a:lstStyle/>
              <a:p>
                <a:endParaRPr lang="en-US"/>
              </a:p>
            </p:txBody>
          </p:sp>
        </p:grpSp>
        <p:sp>
          <p:nvSpPr>
            <p:cNvPr id="29" name="TextBox 29"/>
            <p:cNvSpPr txBox="1"/>
            <p:nvPr/>
          </p:nvSpPr>
          <p:spPr>
            <a:xfrm>
              <a:off x="7804404" y="3718560"/>
              <a:ext cx="2135360"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HU · coldchain-compliance</a:t>
              </a:r>
            </a:p>
          </p:txBody>
        </p:sp>
        <p:sp>
          <p:nvSpPr>
            <p:cNvPr id="30" name="TextBox 30"/>
            <p:cNvSpPr txBox="1"/>
            <p:nvPr/>
          </p:nvSpPr>
          <p:spPr>
            <a:xfrm>
              <a:off x="7802118" y="4031932"/>
              <a:ext cx="281229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Readings · breach · recall</a:t>
              </a:r>
            </a:p>
          </p:txBody>
        </p:sp>
        <p:sp>
          <p:nvSpPr>
            <p:cNvPr id="31" name="Line 31"/>
            <p:cNvSpPr/>
            <p:nvPr/>
          </p:nvSpPr>
          <p:spPr>
            <a:xfrm>
              <a:off x="5334000" y="3971925"/>
              <a:ext cx="1676400" cy="9525"/>
            </a:xfrm>
            <a:custGeom>
              <a:avLst/>
              <a:gdLst/>
              <a:ahLst/>
              <a:cxnLst/>
              <a:rect l="l" t="t" r="r" b="b"/>
              <a:pathLst>
                <a:path w="1676400" h="9525">
                  <a:moveTo>
                    <a:pt x="1676400" y="0"/>
                  </a:moveTo>
                  <a:lnTo>
                    <a:pt x="0" y="0"/>
                  </a:lnTo>
                </a:path>
              </a:pathLst>
            </a:custGeom>
            <a:noFill/>
            <a:ln w="57150">
              <a:solidFill>
                <a:schemeClr val="accent2"/>
              </a:solidFill>
            </a:ln>
          </p:spPr>
          <p:txBody>
            <a:bodyPr/>
            <a:lstStyle/>
            <a:p>
              <a:endParaRPr lang="en-US"/>
            </a:p>
          </p:txBody>
        </p:sp>
        <p:sp>
          <p:nvSpPr>
            <p:cNvPr id="32" name="Polygon 32"/>
            <p:cNvSpPr/>
            <p:nvPr/>
          </p:nvSpPr>
          <p:spPr>
            <a:xfrm>
              <a:off x="5334000" y="3857625"/>
              <a:ext cx="190500" cy="228600"/>
            </a:xfrm>
            <a:custGeom>
              <a:avLst/>
              <a:gdLst/>
              <a:ahLst/>
              <a:cxnLst/>
              <a:rect l="l" t="t" r="r" b="b"/>
              <a:pathLst>
                <a:path w="190500" h="228600">
                  <a:moveTo>
                    <a:pt x="0" y="114300"/>
                  </a:moveTo>
                  <a:lnTo>
                    <a:pt x="190500" y="0"/>
                  </a:lnTo>
                  <a:lnTo>
                    <a:pt x="190500" y="228600"/>
                  </a:lnTo>
                  <a:close/>
                </a:path>
              </a:pathLst>
            </a:custGeom>
            <a:solidFill>
              <a:schemeClr val="accent2"/>
            </a:solidFill>
            <a:ln>
              <a:noFill/>
            </a:ln>
          </p:spPr>
          <p:txBody>
            <a:bodyPr/>
            <a:lstStyle/>
            <a:p>
              <a:endParaRPr lang="en-US"/>
            </a:p>
          </p:txBody>
        </p:sp>
        <p:sp>
          <p:nvSpPr>
            <p:cNvPr id="33" name="TextBox 33"/>
            <p:cNvSpPr txBox="1"/>
            <p:nvPr/>
          </p:nvSpPr>
          <p:spPr>
            <a:xfrm>
              <a:off x="5604992" y="3607118"/>
              <a:ext cx="1134416"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Consolas"/>
                  <a:ea typeface="Consolas"/>
                  <a:cs typeface="Consolas"/>
                </a:rPr>
                <a:t>FlagBatch()</a:t>
              </a:r>
            </a:p>
          </p:txBody>
        </p:sp>
      </p:grpSp>
      <p:grpSp>
        <p:nvGrpSpPr>
          <p:cNvPr id="52" name="Group 52"/>
          <p:cNvGrpSpPr/>
          <p:nvPr/>
        </p:nvGrpSpPr>
        <p:grpSpPr>
          <a:xfrm>
            <a:off x="609600" y="4705350"/>
            <a:ext cx="10972800" cy="1116139"/>
            <a:chOff x="609600" y="4705350"/>
            <a:chExt cx="10972800" cy="1116139"/>
          </a:xfrm>
        </p:grpSpPr>
        <p:sp>
          <p:nvSpPr>
            <p:cNvPr id="35" name="TextBox 35"/>
            <p:cNvSpPr txBox="1"/>
            <p:nvPr/>
          </p:nvSpPr>
          <p:spPr>
            <a:xfrm>
              <a:off x="609600" y="4705350"/>
              <a:ext cx="41910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OFF-CHAIN SERVICES · OWNER: LIN, CHI-HSIEN</a:t>
              </a:r>
            </a:p>
          </p:txBody>
        </p:sp>
        <p:sp>
          <p:nvSpPr>
            <p:cNvPr id="36" name="Line 36"/>
            <p:cNvSpPr/>
            <p:nvPr/>
          </p:nvSpPr>
          <p:spPr>
            <a:xfrm>
              <a:off x="609600" y="5048250"/>
              <a:ext cx="10972800" cy="9525"/>
            </a:xfrm>
            <a:custGeom>
              <a:avLst/>
              <a:gdLst/>
              <a:ahLst/>
              <a:cxnLst/>
              <a:rect l="l" t="t" r="r" b="b"/>
              <a:pathLst>
                <a:path w="10972800" h="9525">
                  <a:moveTo>
                    <a:pt x="0" y="0"/>
                  </a:moveTo>
                  <a:lnTo>
                    <a:pt x="10972800" y="0"/>
                  </a:lnTo>
                </a:path>
              </a:pathLst>
            </a:custGeom>
            <a:noFill/>
            <a:ln w="9525">
              <a:solidFill>
                <a:srgbClr val="CBD5E1"/>
              </a:solidFill>
            </a:ln>
          </p:spPr>
          <p:txBody>
            <a:bodyPr/>
            <a:lstStyle/>
            <a:p>
              <a:endParaRPr lang="en-US"/>
            </a:p>
          </p:txBody>
        </p:sp>
        <p:grpSp>
          <p:nvGrpSpPr>
            <p:cNvPr id="39" name="Group 39"/>
            <p:cNvGrpSpPr/>
            <p:nvPr/>
          </p:nvGrpSpPr>
          <p:grpSpPr>
            <a:xfrm>
              <a:off x="725239" y="5264944"/>
              <a:ext cx="130672" cy="270921"/>
              <a:chOff x="725239" y="5264944"/>
              <a:chExt cx="130672" cy="270921"/>
            </a:xfrm>
          </p:grpSpPr>
          <p:sp>
            <p:nvSpPr>
              <p:cNvPr id="37" name="Freeform 37"/>
              <p:cNvSpPr/>
              <p:nvPr/>
            </p:nvSpPr>
            <p:spPr>
              <a:xfrm>
                <a:off x="725239" y="5264944"/>
                <a:ext cx="130672" cy="270921"/>
              </a:xfrm>
              <a:custGeom>
                <a:avLst/>
                <a:gdLst/>
                <a:ahLst/>
                <a:cxnLst/>
                <a:rect l="l" t="t" r="r" b="b"/>
                <a:pathLst>
                  <a:path w="130672" h="270921">
                    <a:moveTo>
                      <a:pt x="35174" y="158353"/>
                    </a:moveTo>
                    <a:cubicBezTo>
                      <a:pt x="11528" y="172004"/>
                      <a:pt x="0" y="199836"/>
                      <a:pt x="7067" y="226209"/>
                    </a:cubicBezTo>
                    <a:cubicBezTo>
                      <a:pt x="14133" y="252582"/>
                      <a:pt x="38033" y="270921"/>
                      <a:pt x="65336" y="270921"/>
                    </a:cubicBezTo>
                    <a:cubicBezTo>
                      <a:pt x="92639" y="270921"/>
                      <a:pt x="116539" y="252582"/>
                      <a:pt x="123605" y="226209"/>
                    </a:cubicBezTo>
                    <a:cubicBezTo>
                      <a:pt x="130672" y="199836"/>
                      <a:pt x="119144" y="172004"/>
                      <a:pt x="95498" y="158353"/>
                    </a:cubicBezTo>
                    <a:lnTo>
                      <a:pt x="95498" y="30162"/>
                    </a:lnTo>
                    <a:cubicBezTo>
                      <a:pt x="95498" y="13504"/>
                      <a:pt x="81994" y="0"/>
                      <a:pt x="65336" y="0"/>
                    </a:cubicBezTo>
                    <a:cubicBezTo>
                      <a:pt x="48678" y="0"/>
                      <a:pt x="35174" y="13504"/>
                      <a:pt x="35174" y="30162"/>
                    </a:cubicBezTo>
                    <a:lnTo>
                      <a:pt x="35174" y="158353"/>
                    </a:lnTo>
                  </a:path>
                </a:pathLst>
              </a:custGeom>
              <a:noFill/>
              <a:ln w="30162">
                <a:solidFill>
                  <a:schemeClr val="accent3"/>
                </a:solidFill>
              </a:ln>
            </p:spPr>
            <p:txBody>
              <a:bodyPr/>
              <a:lstStyle/>
              <a:p>
                <a:endParaRPr lang="en-US"/>
              </a:p>
            </p:txBody>
          </p:sp>
          <p:sp>
            <p:nvSpPr>
              <p:cNvPr id="38" name="Freeform 38"/>
              <p:cNvSpPr/>
              <p:nvPr/>
            </p:nvSpPr>
            <p:spPr>
              <a:xfrm>
                <a:off x="760412" y="5355431"/>
                <a:ext cx="60325" cy="9525"/>
              </a:xfrm>
              <a:custGeom>
                <a:avLst/>
                <a:gdLst/>
                <a:ahLst/>
                <a:cxnLst/>
                <a:rect l="l" t="t" r="r" b="b"/>
                <a:pathLst>
                  <a:path w="60325" h="9525">
                    <a:moveTo>
                      <a:pt x="0" y="0"/>
                    </a:moveTo>
                    <a:lnTo>
                      <a:pt x="60325" y="0"/>
                    </a:lnTo>
                  </a:path>
                </a:pathLst>
              </a:custGeom>
              <a:noFill/>
              <a:ln w="30162">
                <a:solidFill>
                  <a:schemeClr val="accent3"/>
                </a:solidFill>
              </a:ln>
            </p:spPr>
            <p:txBody>
              <a:bodyPr/>
              <a:lstStyle/>
              <a:p>
                <a:endParaRPr lang="en-US"/>
              </a:p>
            </p:txBody>
          </p:sp>
        </p:grpSp>
        <p:sp>
          <p:nvSpPr>
            <p:cNvPr id="40" name="TextBox 40"/>
            <p:cNvSpPr txBox="1"/>
            <p:nvPr/>
          </p:nvSpPr>
          <p:spPr>
            <a:xfrm>
              <a:off x="1114806" y="5196840"/>
              <a:ext cx="85299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Oracle</a:t>
              </a:r>
            </a:p>
          </p:txBody>
        </p:sp>
        <p:sp>
          <p:nvSpPr>
            <p:cNvPr id="41" name="TextBox 41"/>
            <p:cNvSpPr txBox="1"/>
            <p:nvPr/>
          </p:nvSpPr>
          <p:spPr>
            <a:xfrm>
              <a:off x="1115568" y="5498782"/>
              <a:ext cx="209361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aggregate + submit</a:t>
              </a:r>
            </a:p>
          </p:txBody>
        </p:sp>
        <p:sp>
          <p:nvSpPr>
            <p:cNvPr id="42" name="Line 42"/>
            <p:cNvSpPr/>
            <p:nvPr/>
          </p:nvSpPr>
          <p:spPr>
            <a:xfrm>
              <a:off x="3962400" y="5162550"/>
              <a:ext cx="9525" cy="552450"/>
            </a:xfrm>
            <a:custGeom>
              <a:avLst/>
              <a:gdLst/>
              <a:ahLst/>
              <a:cxnLst/>
              <a:rect l="l" t="t" r="r" b="b"/>
              <a:pathLst>
                <a:path w="9525" h="552450">
                  <a:moveTo>
                    <a:pt x="0" y="0"/>
                  </a:moveTo>
                  <a:lnTo>
                    <a:pt x="0" y="552450"/>
                  </a:lnTo>
                </a:path>
              </a:pathLst>
            </a:custGeom>
            <a:noFill/>
            <a:ln w="9525">
              <a:solidFill>
                <a:srgbClr val="CBD5E1"/>
              </a:solidFill>
            </a:ln>
          </p:spPr>
          <p:txBody>
            <a:bodyPr/>
            <a:lstStyle/>
            <a:p>
              <a:endParaRPr lang="en-US"/>
            </a:p>
          </p:txBody>
        </p:sp>
        <p:sp>
          <p:nvSpPr>
            <p:cNvPr id="43" name="TextBox 43"/>
            <p:cNvSpPr txBox="1"/>
            <p:nvPr/>
          </p:nvSpPr>
          <p:spPr>
            <a:xfrm>
              <a:off x="4315206" y="5196840"/>
              <a:ext cx="171824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Event indexer</a:t>
              </a:r>
            </a:p>
          </p:txBody>
        </p:sp>
        <p:sp>
          <p:nvSpPr>
            <p:cNvPr id="44" name="TextBox 44"/>
            <p:cNvSpPr txBox="1"/>
            <p:nvPr/>
          </p:nvSpPr>
          <p:spPr>
            <a:xfrm>
              <a:off x="4315968" y="5498782"/>
              <a:ext cx="2692598"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event-driven history API</a:t>
              </a:r>
            </a:p>
          </p:txBody>
        </p:sp>
        <p:sp>
          <p:nvSpPr>
            <p:cNvPr id="45" name="Line 45"/>
            <p:cNvSpPr/>
            <p:nvPr/>
          </p:nvSpPr>
          <p:spPr>
            <a:xfrm>
              <a:off x="7886700" y="5162550"/>
              <a:ext cx="9525" cy="552450"/>
            </a:xfrm>
            <a:custGeom>
              <a:avLst/>
              <a:gdLst/>
              <a:ahLst/>
              <a:cxnLst/>
              <a:rect l="l" t="t" r="r" b="b"/>
              <a:pathLst>
                <a:path w="9525" h="552450">
                  <a:moveTo>
                    <a:pt x="0" y="0"/>
                  </a:moveTo>
                  <a:lnTo>
                    <a:pt x="0" y="552450"/>
                  </a:lnTo>
                </a:path>
              </a:pathLst>
            </a:custGeom>
            <a:noFill/>
            <a:ln w="9525">
              <a:solidFill>
                <a:srgbClr val="CBD5E1"/>
              </a:solidFill>
            </a:ln>
          </p:spPr>
          <p:txBody>
            <a:bodyPr/>
            <a:lstStyle/>
            <a:p>
              <a:endParaRPr lang="en-US"/>
            </a:p>
          </p:txBody>
        </p:sp>
        <p:grpSp>
          <p:nvGrpSpPr>
            <p:cNvPr id="49" name="Group 49"/>
            <p:cNvGrpSpPr/>
            <p:nvPr/>
          </p:nvGrpSpPr>
          <p:grpSpPr>
            <a:xfrm>
              <a:off x="8251825" y="5264944"/>
              <a:ext cx="241299" cy="271462"/>
              <a:chOff x="8251825" y="5264944"/>
              <a:chExt cx="241299" cy="271462"/>
            </a:xfrm>
          </p:grpSpPr>
          <p:sp>
            <p:nvSpPr>
              <p:cNvPr id="46" name="Freeform 46"/>
              <p:cNvSpPr/>
              <p:nvPr/>
            </p:nvSpPr>
            <p:spPr>
              <a:xfrm>
                <a:off x="8251825" y="5264944"/>
                <a:ext cx="241299" cy="90487"/>
              </a:xfrm>
              <a:custGeom>
                <a:avLst/>
                <a:gdLst/>
                <a:ahLst/>
                <a:cxnLst/>
                <a:rect l="l" t="t" r="r" b="b"/>
                <a:pathLst>
                  <a:path w="241299" h="90487">
                    <a:moveTo>
                      <a:pt x="0" y="45244"/>
                    </a:moveTo>
                    <a:cubicBezTo>
                      <a:pt x="0" y="70231"/>
                      <a:pt x="54017" y="90487"/>
                      <a:pt x="120650" y="90487"/>
                    </a:cubicBezTo>
                    <a:cubicBezTo>
                      <a:pt x="187283" y="90487"/>
                      <a:pt x="241299" y="70231"/>
                      <a:pt x="241299" y="45244"/>
                    </a:cubicBezTo>
                    <a:cubicBezTo>
                      <a:pt x="241299" y="20256"/>
                      <a:pt x="187283" y="0"/>
                      <a:pt x="120650" y="0"/>
                    </a:cubicBezTo>
                    <a:cubicBezTo>
                      <a:pt x="54017" y="0"/>
                      <a:pt x="0" y="20256"/>
                      <a:pt x="0" y="45244"/>
                    </a:cubicBezTo>
                  </a:path>
                </a:pathLst>
              </a:custGeom>
              <a:noFill/>
              <a:ln w="30162">
                <a:solidFill>
                  <a:schemeClr val="accent3"/>
                </a:solidFill>
              </a:ln>
            </p:spPr>
            <p:txBody>
              <a:bodyPr/>
              <a:lstStyle/>
              <a:p>
                <a:endParaRPr lang="en-US"/>
              </a:p>
            </p:txBody>
          </p:sp>
          <p:sp>
            <p:nvSpPr>
              <p:cNvPr id="47" name="Freeform 47"/>
              <p:cNvSpPr/>
              <p:nvPr/>
            </p:nvSpPr>
            <p:spPr>
              <a:xfrm>
                <a:off x="8251825" y="5310187"/>
                <a:ext cx="241299" cy="135731"/>
              </a:xfrm>
              <a:custGeom>
                <a:avLst/>
                <a:gdLst/>
                <a:ahLst/>
                <a:cxnLst/>
                <a:rect l="l" t="t" r="r" b="b"/>
                <a:pathLst>
                  <a:path w="241299" h="135731">
                    <a:moveTo>
                      <a:pt x="0" y="0"/>
                    </a:moveTo>
                    <a:lnTo>
                      <a:pt x="0" y="90487"/>
                    </a:lnTo>
                    <a:cubicBezTo>
                      <a:pt x="0" y="115475"/>
                      <a:pt x="54017" y="135731"/>
                      <a:pt x="120650" y="135731"/>
                    </a:cubicBezTo>
                    <a:cubicBezTo>
                      <a:pt x="187283" y="135731"/>
                      <a:pt x="241299" y="115475"/>
                      <a:pt x="241299" y="90487"/>
                    </a:cubicBezTo>
                    <a:lnTo>
                      <a:pt x="241299" y="0"/>
                    </a:lnTo>
                  </a:path>
                </a:pathLst>
              </a:custGeom>
              <a:noFill/>
              <a:ln w="30162">
                <a:solidFill>
                  <a:schemeClr val="accent3"/>
                </a:solidFill>
              </a:ln>
            </p:spPr>
            <p:txBody>
              <a:bodyPr/>
              <a:lstStyle/>
              <a:p>
                <a:endParaRPr lang="en-US"/>
              </a:p>
            </p:txBody>
          </p:sp>
          <p:sp>
            <p:nvSpPr>
              <p:cNvPr id="48" name="Freeform 48"/>
              <p:cNvSpPr/>
              <p:nvPr/>
            </p:nvSpPr>
            <p:spPr>
              <a:xfrm>
                <a:off x="8251825" y="5400675"/>
                <a:ext cx="241299" cy="135731"/>
              </a:xfrm>
              <a:custGeom>
                <a:avLst/>
                <a:gdLst/>
                <a:ahLst/>
                <a:cxnLst/>
                <a:rect l="l" t="t" r="r" b="b"/>
                <a:pathLst>
                  <a:path w="241299" h="135731">
                    <a:moveTo>
                      <a:pt x="0" y="0"/>
                    </a:moveTo>
                    <a:lnTo>
                      <a:pt x="0" y="90487"/>
                    </a:lnTo>
                    <a:cubicBezTo>
                      <a:pt x="0" y="115475"/>
                      <a:pt x="54017" y="135731"/>
                      <a:pt x="120650" y="135731"/>
                    </a:cubicBezTo>
                    <a:cubicBezTo>
                      <a:pt x="187283" y="135731"/>
                      <a:pt x="241299" y="115475"/>
                      <a:pt x="241299" y="90487"/>
                    </a:cubicBezTo>
                    <a:lnTo>
                      <a:pt x="241299" y="0"/>
                    </a:lnTo>
                  </a:path>
                </a:pathLst>
              </a:custGeom>
              <a:noFill/>
              <a:ln w="30162">
                <a:solidFill>
                  <a:schemeClr val="accent3"/>
                </a:solidFill>
              </a:ln>
            </p:spPr>
            <p:txBody>
              <a:bodyPr/>
              <a:lstStyle/>
              <a:p>
                <a:endParaRPr lang="en-US"/>
              </a:p>
            </p:txBody>
          </p:sp>
        </p:grpSp>
        <p:sp>
          <p:nvSpPr>
            <p:cNvPr id="50" name="TextBox 50"/>
            <p:cNvSpPr txBox="1"/>
            <p:nvPr/>
          </p:nvSpPr>
          <p:spPr>
            <a:xfrm>
              <a:off x="8696706" y="5196840"/>
              <a:ext cx="100577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Storage</a:t>
              </a:r>
            </a:p>
          </p:txBody>
        </p:sp>
        <p:sp>
          <p:nvSpPr>
            <p:cNvPr id="51" name="TextBox 51"/>
            <p:cNvSpPr txBox="1"/>
            <p:nvPr/>
          </p:nvSpPr>
          <p:spPr>
            <a:xfrm>
              <a:off x="8697468" y="5498782"/>
              <a:ext cx="217596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FS / IPFS + SHA-256</a:t>
              </a:r>
            </a:p>
          </p:txBody>
        </p:sp>
      </p:grpSp>
      <p:grpSp>
        <p:nvGrpSpPr>
          <p:cNvPr id="56" name="Group 56"/>
          <p:cNvGrpSpPr/>
          <p:nvPr/>
        </p:nvGrpSpPr>
        <p:grpSpPr>
          <a:xfrm>
            <a:off x="609600" y="5981700"/>
            <a:ext cx="10972800" cy="762000"/>
            <a:chOff x="609600" y="5981700"/>
            <a:chExt cx="10972800" cy="762000"/>
          </a:xfrm>
        </p:grpSpPr>
        <p:sp>
          <p:nvSpPr>
            <p:cNvPr id="53" name="Rectangle 53"/>
            <p:cNvSpPr/>
            <p:nvPr/>
          </p:nvSpPr>
          <p:spPr>
            <a:xfrm>
              <a:off x="609600" y="5981700"/>
              <a:ext cx="10972800" cy="457200"/>
            </a:xfrm>
            <a:prstGeom prst="rect">
              <a:avLst/>
            </a:prstGeom>
            <a:solidFill>
              <a:schemeClr val="accent1"/>
            </a:solidFill>
            <a:ln>
              <a:noFill/>
            </a:ln>
          </p:spPr>
          <p:txBody>
            <a:bodyPr/>
            <a:lstStyle/>
            <a:p>
              <a:endParaRPr lang="en-US"/>
            </a:p>
          </p:txBody>
        </p:sp>
        <p:sp>
          <p:nvSpPr>
            <p:cNvPr id="54" name="TextBox 54"/>
            <p:cNvSpPr txBox="1"/>
            <p:nvPr/>
          </p:nvSpPr>
          <p:spPr>
            <a:xfrm>
              <a:off x="2286000" y="6124575"/>
              <a:ext cx="7620000" cy="228600"/>
            </a:xfrm>
            <a:prstGeom prst="rect">
              <a:avLst/>
            </a:prstGeom>
            <a:noFill/>
            <a:ln>
              <a:noFill/>
            </a:ln>
          </p:spPr>
          <p:txBody>
            <a:bodyPr wrap="square" lIns="0" tIns="22860" rIns="0" bIns="0" anchor="t" anchorCtr="0">
              <a:noAutofit/>
            </a:bodyPr>
            <a:lstStyle/>
            <a:p>
              <a:pPr algn="ctr"/>
              <a:r>
                <a:rPr lang="en-US" sz="1200" b="1" dirty="0">
                  <a:solidFill>
                    <a:srgbClr val="FFFFFF"/>
                  </a:solidFill>
                  <a:latin typeface="Consolas"/>
                  <a:ea typeface="Consolas"/>
                  <a:cs typeface="Consolas"/>
                </a:rPr>
                <a:t>HUANG · 2 ORGS · mychannel · RAFT · CCaaS</a:t>
              </a:r>
            </a:p>
          </p:txBody>
        </p:sp>
        <p:sp>
          <p:nvSpPr>
            <p:cNvPr id="55" name="TextBox 55"/>
            <p:cNvSpPr txBox="1"/>
            <p:nvPr/>
          </p:nvSpPr>
          <p:spPr>
            <a:xfrm>
              <a:off x="10668000" y="65151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02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44818"/>
            <a:ext cx="10988802" cy="936117"/>
            <a:chOff x="593598" y="444818"/>
            <a:chExt cx="10988802" cy="936117"/>
          </a:xfrm>
        </p:grpSpPr>
        <p:sp>
          <p:nvSpPr>
            <p:cNvPr id="2" name="TextBox 2"/>
            <p:cNvSpPr txBox="1"/>
            <p:nvPr/>
          </p:nvSpPr>
          <p:spPr>
            <a:xfrm>
              <a:off x="602742" y="444818"/>
              <a:ext cx="3340532"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onsolas"/>
                  <a:ea typeface="Consolas"/>
                  <a:cs typeface="Consolas"/>
                </a:rPr>
                <a:t>03 / RESPONSE TO TASK 2 FEEDBACK</a:t>
              </a:r>
            </a:p>
          </p:txBody>
        </p:sp>
        <p:sp>
          <p:nvSpPr>
            <p:cNvPr id="3" name="TextBox 3"/>
            <p:cNvSpPr txBox="1"/>
            <p:nvPr/>
          </p:nvSpPr>
          <p:spPr>
            <a:xfrm>
              <a:off x="593598" y="764858"/>
              <a:ext cx="9463968"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Teacher feedback drove four improvements</a:t>
              </a:r>
            </a:p>
          </p:txBody>
        </p:sp>
        <p:sp>
          <p:nvSpPr>
            <p:cNvPr id="4" name="Line 4"/>
            <p:cNvSpPr/>
            <p:nvPr/>
          </p:nvSpPr>
          <p:spPr>
            <a:xfrm>
              <a:off x="609600" y="1352550"/>
              <a:ext cx="10972800" cy="9525"/>
            </a:xfrm>
            <a:custGeom>
              <a:avLst/>
              <a:gdLst/>
              <a:ahLst/>
              <a:cxnLst/>
              <a:rect l="l" t="t" r="r" b="b"/>
              <a:pathLst>
                <a:path w="10972800" h="9525">
                  <a:moveTo>
                    <a:pt x="0" y="0"/>
                  </a:moveTo>
                  <a:lnTo>
                    <a:pt x="10972800" y="0"/>
                  </a:lnTo>
                </a:path>
              </a:pathLst>
            </a:custGeom>
            <a:noFill/>
            <a:ln w="19050">
              <a:solidFill>
                <a:schemeClr val="accent1"/>
              </a:solidFill>
            </a:ln>
          </p:spPr>
          <p:txBody>
            <a:bodyPr/>
            <a:lstStyle/>
            <a:p>
              <a:endParaRPr lang="en-US"/>
            </a:p>
          </p:txBody>
        </p:sp>
      </p:grpSp>
      <p:grpSp>
        <p:nvGrpSpPr>
          <p:cNvPr id="24" name="Group 24"/>
          <p:cNvGrpSpPr/>
          <p:nvPr/>
        </p:nvGrpSpPr>
        <p:grpSpPr>
          <a:xfrm>
            <a:off x="609600" y="1638300"/>
            <a:ext cx="7568908" cy="6715125"/>
            <a:chOff x="609600" y="1638300"/>
            <a:chExt cx="7568908" cy="6715125"/>
          </a:xfrm>
        </p:grpSpPr>
        <p:sp>
          <p:nvSpPr>
            <p:cNvPr id="6" name="TextBox 6"/>
            <p:cNvSpPr txBox="1"/>
            <p:nvPr/>
          </p:nvSpPr>
          <p:spPr>
            <a:xfrm>
              <a:off x="609600" y="1638300"/>
              <a:ext cx="680085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POST-TASK 2 CHANGES + INTEGRATION FIXES</a:t>
              </a:r>
            </a:p>
          </p:txBody>
        </p:sp>
        <p:sp>
          <p:nvSpPr>
            <p:cNvPr id="7" name="Line 7"/>
            <p:cNvSpPr/>
            <p:nvPr/>
          </p:nvSpPr>
          <p:spPr>
            <a:xfrm>
              <a:off x="876300" y="2114550"/>
              <a:ext cx="9525" cy="3181350"/>
            </a:xfrm>
            <a:custGeom>
              <a:avLst/>
              <a:gdLst/>
              <a:ahLst/>
              <a:cxnLst/>
              <a:rect l="l" t="t" r="r" b="b"/>
              <a:pathLst>
                <a:path w="9525" h="3181350">
                  <a:moveTo>
                    <a:pt x="0" y="0"/>
                  </a:moveTo>
                  <a:lnTo>
                    <a:pt x="0" y="3181350"/>
                  </a:lnTo>
                </a:path>
              </a:pathLst>
            </a:custGeom>
            <a:noFill/>
            <a:ln w="28575">
              <a:solidFill>
                <a:schemeClr val="accent1"/>
              </a:solidFill>
            </a:ln>
          </p:spPr>
          <p:txBody>
            <a:bodyPr/>
            <a:lstStyle/>
            <a:p>
              <a:endParaRPr lang="en-US"/>
            </a:p>
          </p:txBody>
        </p:sp>
        <p:sp>
          <p:nvSpPr>
            <p:cNvPr id="8" name="Ellipse 8"/>
            <p:cNvSpPr/>
            <p:nvPr/>
          </p:nvSpPr>
          <p:spPr>
            <a:xfrm>
              <a:off x="609600" y="1981200"/>
              <a:ext cx="533400" cy="533400"/>
            </a:xfrm>
            <a:prstGeom prst="ellipse">
              <a:avLst/>
            </a:prstGeom>
            <a:solidFill>
              <a:schemeClr val="accent1"/>
            </a:solidFill>
            <a:ln>
              <a:noFill/>
            </a:ln>
          </p:spPr>
          <p:txBody>
            <a:bodyPr/>
            <a:lstStyle/>
            <a:p>
              <a:endParaRPr lang="en-US"/>
            </a:p>
          </p:txBody>
        </p:sp>
        <p:sp>
          <p:nvSpPr>
            <p:cNvPr id="9" name="TextBox 9"/>
            <p:cNvSpPr txBox="1"/>
            <p:nvPr/>
          </p:nvSpPr>
          <p:spPr>
            <a:xfrm>
              <a:off x="764489" y="217836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01</a:t>
              </a:r>
            </a:p>
          </p:txBody>
        </p:sp>
        <p:sp>
          <p:nvSpPr>
            <p:cNvPr id="10" name="TextBox 10"/>
            <p:cNvSpPr txBox="1"/>
            <p:nvPr/>
          </p:nvSpPr>
          <p:spPr>
            <a:xfrm>
              <a:off x="1333500" y="1990725"/>
              <a:ext cx="5905500" cy="266700"/>
            </a:xfrm>
            <a:prstGeom prst="rect">
              <a:avLst/>
            </a:prstGeom>
            <a:noFill/>
            <a:ln>
              <a:noFill/>
            </a:ln>
          </p:spPr>
          <p:txBody>
            <a:bodyPr wrap="square" lIns="0" tIns="19050" rIns="0" bIns="0" anchor="t" anchorCtr="0">
              <a:noAutofit/>
            </a:bodyPr>
            <a:lstStyle/>
            <a:p>
              <a:pPr algn="l"/>
              <a:r>
                <a:rPr lang="en-US" sz="1500" b="1" dirty="0">
                  <a:solidFill>
                    <a:schemeClr val="accent1"/>
                  </a:solidFill>
                  <a:latin typeface="+mn-lt"/>
                  <a:ea typeface="+mn-ea"/>
                  <a:cs typeface="+mn-cs"/>
                </a:rPr>
                <a:t>REACHABLE LIFECYCLE</a:t>
              </a:r>
            </a:p>
          </p:txBody>
        </p:sp>
        <p:sp>
          <p:nvSpPr>
            <p:cNvPr id="11" name="TextBox 11"/>
            <p:cNvSpPr txBox="1"/>
            <p:nvPr/>
          </p:nvSpPr>
          <p:spPr>
            <a:xfrm>
              <a:off x="1333500" y="2276475"/>
              <a:ext cx="5905500" cy="247650"/>
            </a:xfrm>
            <a:prstGeom prst="rect">
              <a:avLst/>
            </a:prstGeom>
            <a:noFill/>
            <a:ln>
              <a:noFill/>
            </a:ln>
          </p:spPr>
          <p:txBody>
            <a:bodyPr wrap="square" lIns="0" tIns="16192" rIns="0" bIns="0" anchor="t" anchorCtr="0">
              <a:noAutofit/>
            </a:bodyPr>
            <a:lstStyle/>
            <a:p>
              <a:pPr algn="l"/>
              <a:r>
                <a:rPr lang="en-US" sz="1350" dirty="0">
                  <a:solidFill>
                    <a:schemeClr val="dk1"/>
                  </a:solidFill>
                  <a:latin typeface="+mn-lt"/>
                  <a:ea typeface="+mn-ea"/>
                  <a:cs typeface="+mn-cs"/>
                </a:rPr>
                <a:t>Added MarkDelivered: AT_WAREHOUSE → DELIVERED</a:t>
              </a:r>
            </a:p>
          </p:txBody>
        </p:sp>
        <p:sp>
          <p:nvSpPr>
            <p:cNvPr id="12" name="Ellipse 12"/>
            <p:cNvSpPr/>
            <p:nvPr/>
          </p:nvSpPr>
          <p:spPr>
            <a:xfrm>
              <a:off x="609600" y="3533585"/>
              <a:ext cx="533400" cy="533400"/>
            </a:xfrm>
            <a:prstGeom prst="ellipse">
              <a:avLst/>
            </a:prstGeom>
            <a:solidFill>
              <a:schemeClr val="accent1"/>
            </a:solidFill>
            <a:ln>
              <a:noFill/>
            </a:ln>
          </p:spPr>
          <p:txBody>
            <a:bodyPr/>
            <a:lstStyle/>
            <a:p>
              <a:endParaRPr lang="en-US"/>
            </a:p>
          </p:txBody>
        </p:sp>
        <p:sp>
          <p:nvSpPr>
            <p:cNvPr id="13" name="TextBox 13"/>
            <p:cNvSpPr txBox="1"/>
            <p:nvPr/>
          </p:nvSpPr>
          <p:spPr>
            <a:xfrm>
              <a:off x="764489" y="307371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02</a:t>
              </a:r>
            </a:p>
          </p:txBody>
        </p:sp>
        <p:sp>
          <p:nvSpPr>
            <p:cNvPr id="14" name="TextBox 14"/>
            <p:cNvSpPr txBox="1"/>
            <p:nvPr/>
          </p:nvSpPr>
          <p:spPr>
            <a:xfrm>
              <a:off x="1333500" y="3590784"/>
              <a:ext cx="5905500" cy="266700"/>
            </a:xfrm>
            <a:prstGeom prst="rect">
              <a:avLst/>
            </a:prstGeom>
            <a:noFill/>
            <a:ln>
              <a:noFill/>
            </a:ln>
          </p:spPr>
          <p:txBody>
            <a:bodyPr wrap="square" lIns="0" tIns="19050" rIns="0" bIns="0" anchor="t" anchorCtr="0">
              <a:noAutofit/>
            </a:bodyPr>
            <a:lstStyle/>
            <a:p>
              <a:pPr algn="l"/>
              <a:r>
                <a:rPr lang="en-US" sz="1500" b="1" dirty="0">
                  <a:solidFill>
                    <a:schemeClr val="accent1"/>
                  </a:solidFill>
                  <a:latin typeface="+mn-lt"/>
                  <a:ea typeface="+mn-ea"/>
                  <a:cs typeface="+mn-cs"/>
                </a:rPr>
                <a:t>COMPLETE READ MODEL</a:t>
              </a:r>
            </a:p>
          </p:txBody>
        </p:sp>
        <p:sp>
          <p:nvSpPr>
            <p:cNvPr id="15" name="TextBox 15"/>
            <p:cNvSpPr txBox="1"/>
            <p:nvPr/>
          </p:nvSpPr>
          <p:spPr>
            <a:xfrm>
              <a:off x="1333500" y="3886574"/>
              <a:ext cx="5905500" cy="247650"/>
            </a:xfrm>
            <a:prstGeom prst="rect">
              <a:avLst/>
            </a:prstGeom>
            <a:noFill/>
            <a:ln>
              <a:noFill/>
            </a:ln>
          </p:spPr>
          <p:txBody>
            <a:bodyPr wrap="square" lIns="0" tIns="16192" rIns="0" bIns="0" anchor="t" anchorCtr="0">
              <a:noAutofit/>
            </a:bodyPr>
            <a:lstStyle/>
            <a:p>
              <a:pPr algn="l"/>
              <a:r>
                <a:rPr lang="en-US" sz="1350" dirty="0">
                  <a:solidFill>
                    <a:schemeClr val="dk1"/>
                  </a:solidFill>
                  <a:latin typeface="+mn-lt"/>
                  <a:ea typeface="+mn-ea"/>
                  <a:cs typeface="+mn-cs"/>
                </a:rPr>
                <a:t>Indexer consumes seven events from both chaincodes</a:t>
              </a:r>
            </a:p>
          </p:txBody>
        </p:sp>
        <p:sp>
          <p:nvSpPr>
            <p:cNvPr id="18" name="TextBox 18"/>
            <p:cNvSpPr txBox="1"/>
            <p:nvPr/>
          </p:nvSpPr>
          <p:spPr>
            <a:xfrm>
              <a:off x="2064436" y="4864418"/>
              <a:ext cx="5905500" cy="266700"/>
            </a:xfrm>
            <a:prstGeom prst="rect">
              <a:avLst/>
            </a:prstGeom>
            <a:noFill/>
            <a:ln>
              <a:noFill/>
            </a:ln>
          </p:spPr>
          <p:txBody>
            <a:bodyPr wrap="square" lIns="0" tIns="19050" rIns="0" bIns="0" anchor="t" anchorCtr="0">
              <a:noAutofit/>
            </a:bodyPr>
            <a:lstStyle/>
            <a:p>
              <a:pPr algn="l"/>
              <a:endParaRPr lang="en-US" sz="1500" b="1" dirty="0">
                <a:solidFill>
                  <a:schemeClr val="accent1"/>
                </a:solidFill>
                <a:latin typeface="+mn-lt"/>
                <a:ea typeface="+mn-ea"/>
                <a:cs typeface="+mn-cs"/>
              </a:endParaRPr>
            </a:p>
          </p:txBody>
        </p:sp>
        <p:sp>
          <p:nvSpPr>
            <p:cNvPr id="19" name="TextBox 19"/>
            <p:cNvSpPr txBox="1"/>
            <p:nvPr/>
          </p:nvSpPr>
          <p:spPr>
            <a:xfrm>
              <a:off x="1333500" y="4067175"/>
              <a:ext cx="5905500" cy="247650"/>
            </a:xfrm>
            <a:prstGeom prst="rect">
              <a:avLst/>
            </a:prstGeom>
            <a:noFill/>
            <a:ln>
              <a:noFill/>
            </a:ln>
          </p:spPr>
          <p:txBody>
            <a:bodyPr wrap="square" lIns="0" tIns="16192" rIns="0" bIns="0" anchor="t" anchorCtr="0">
              <a:noAutofit/>
            </a:bodyPr>
            <a:lstStyle/>
            <a:p>
              <a:pPr algn="l"/>
              <a:endParaRPr lang="en-US" sz="1350" dirty="0">
                <a:solidFill>
                  <a:schemeClr val="dk1"/>
                </a:solidFill>
                <a:latin typeface="+mn-lt"/>
                <a:ea typeface="+mn-ea"/>
                <a:cs typeface="+mn-cs"/>
              </a:endParaRPr>
            </a:p>
          </p:txBody>
        </p:sp>
        <p:sp>
          <p:nvSpPr>
            <p:cNvPr id="20" name="Ellipse 20"/>
            <p:cNvSpPr/>
            <p:nvPr/>
          </p:nvSpPr>
          <p:spPr>
            <a:xfrm>
              <a:off x="1531036" y="7820025"/>
              <a:ext cx="533400" cy="533400"/>
            </a:xfrm>
            <a:prstGeom prst="ellipse">
              <a:avLst/>
            </a:prstGeom>
            <a:solidFill>
              <a:schemeClr val="accent2"/>
            </a:solidFill>
            <a:ln>
              <a:noFill/>
            </a:ln>
          </p:spPr>
          <p:txBody>
            <a:bodyPr/>
            <a:lstStyle/>
            <a:p>
              <a:endParaRPr lang="en-US" dirty="0"/>
            </a:p>
          </p:txBody>
        </p:sp>
        <p:sp>
          <p:nvSpPr>
            <p:cNvPr id="21" name="TextBox 21"/>
            <p:cNvSpPr txBox="1"/>
            <p:nvPr/>
          </p:nvSpPr>
          <p:spPr>
            <a:xfrm>
              <a:off x="829011" y="4864418"/>
              <a:ext cx="94578" cy="207749"/>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0</a:t>
              </a:r>
            </a:p>
          </p:txBody>
        </p:sp>
        <p:sp>
          <p:nvSpPr>
            <p:cNvPr id="22" name="TextBox 22"/>
            <p:cNvSpPr txBox="1"/>
            <p:nvPr/>
          </p:nvSpPr>
          <p:spPr>
            <a:xfrm>
              <a:off x="2273008" y="7213464"/>
              <a:ext cx="5905500" cy="266700"/>
            </a:xfrm>
            <a:prstGeom prst="rect">
              <a:avLst/>
            </a:prstGeom>
            <a:noFill/>
            <a:ln>
              <a:noFill/>
            </a:ln>
          </p:spPr>
          <p:txBody>
            <a:bodyPr wrap="square" lIns="0" tIns="19050" rIns="0" bIns="0" anchor="t" anchorCtr="0">
              <a:noAutofit/>
            </a:bodyPr>
            <a:lstStyle/>
            <a:p>
              <a:pPr algn="l"/>
              <a:endParaRPr lang="en-US" sz="1500" b="1" dirty="0">
                <a:solidFill>
                  <a:schemeClr val="accent1"/>
                </a:solidFill>
                <a:latin typeface="+mn-lt"/>
                <a:ea typeface="+mn-ea"/>
                <a:cs typeface="+mn-cs"/>
              </a:endParaRPr>
            </a:p>
          </p:txBody>
        </p:sp>
        <p:sp>
          <p:nvSpPr>
            <p:cNvPr id="23" name="TextBox 23"/>
            <p:cNvSpPr txBox="1"/>
            <p:nvPr/>
          </p:nvSpPr>
          <p:spPr>
            <a:xfrm>
              <a:off x="1333500" y="4962525"/>
              <a:ext cx="5905500" cy="247650"/>
            </a:xfrm>
            <a:prstGeom prst="rect">
              <a:avLst/>
            </a:prstGeom>
            <a:noFill/>
            <a:ln>
              <a:noFill/>
            </a:ln>
          </p:spPr>
          <p:txBody>
            <a:bodyPr wrap="square" lIns="0" tIns="16193" rIns="0" bIns="0" anchor="t" anchorCtr="0">
              <a:noAutofit/>
            </a:bodyPr>
            <a:lstStyle/>
            <a:p>
              <a:pPr algn="l"/>
              <a:endParaRPr lang="en-US" sz="1350" dirty="0">
                <a:solidFill>
                  <a:schemeClr val="dk1"/>
                </a:solidFill>
                <a:latin typeface="+mn-lt"/>
                <a:ea typeface="+mn-ea"/>
                <a:cs typeface="+mn-cs"/>
              </a:endParaRPr>
            </a:p>
          </p:txBody>
        </p:sp>
      </p:grpSp>
      <p:grpSp>
        <p:nvGrpSpPr>
          <p:cNvPr id="39" name="Group 39"/>
          <p:cNvGrpSpPr/>
          <p:nvPr/>
        </p:nvGrpSpPr>
        <p:grpSpPr>
          <a:xfrm>
            <a:off x="12313336" y="2524125"/>
            <a:ext cx="4505067" cy="9667875"/>
            <a:chOff x="8115300" y="1895475"/>
            <a:chExt cx="4505067" cy="9667875"/>
          </a:xfrm>
        </p:grpSpPr>
        <p:sp>
          <p:nvSpPr>
            <p:cNvPr id="25" name="Rectangle 25"/>
            <p:cNvSpPr/>
            <p:nvPr/>
          </p:nvSpPr>
          <p:spPr>
            <a:xfrm>
              <a:off x="8905617" y="7505700"/>
              <a:ext cx="3714750" cy="4057650"/>
            </a:xfrm>
            <a:prstGeom prst="rect">
              <a:avLst/>
            </a:prstGeom>
            <a:solidFill>
              <a:schemeClr val="accent5"/>
            </a:solidFill>
            <a:ln>
              <a:noFill/>
            </a:ln>
          </p:spPr>
          <p:txBody>
            <a:bodyPr/>
            <a:lstStyle/>
            <a:p>
              <a:endParaRPr lang="en-US"/>
            </a:p>
          </p:txBody>
        </p:sp>
        <p:sp>
          <p:nvSpPr>
            <p:cNvPr id="26" name="Freeform 26"/>
            <p:cNvSpPr/>
            <p:nvPr/>
          </p:nvSpPr>
          <p:spPr>
            <a:xfrm>
              <a:off x="8190706" y="1915319"/>
              <a:ext cx="226218" cy="150812"/>
            </a:xfrm>
            <a:custGeom>
              <a:avLst/>
              <a:gdLst/>
              <a:ahLst/>
              <a:cxnLst/>
              <a:rect l="l" t="t" r="r" b="b"/>
              <a:pathLst>
                <a:path w="226218" h="150812">
                  <a:moveTo>
                    <a:pt x="0" y="75406"/>
                  </a:moveTo>
                  <a:lnTo>
                    <a:pt x="75406" y="150812"/>
                  </a:lnTo>
                  <a:lnTo>
                    <a:pt x="226218" y="0"/>
                  </a:lnTo>
                </a:path>
              </a:pathLst>
            </a:custGeom>
            <a:noFill/>
            <a:ln w="30162">
              <a:solidFill>
                <a:schemeClr val="accent3"/>
              </a:solidFill>
            </a:ln>
          </p:spPr>
          <p:txBody>
            <a:bodyPr/>
            <a:lstStyle/>
            <a:p>
              <a:endParaRPr lang="en-US"/>
            </a:p>
          </p:txBody>
        </p:sp>
        <p:sp>
          <p:nvSpPr>
            <p:cNvPr id="27" name="TextBox 27"/>
            <p:cNvSpPr txBox="1"/>
            <p:nvPr/>
          </p:nvSpPr>
          <p:spPr>
            <a:xfrm>
              <a:off x="8610600" y="1895475"/>
              <a:ext cx="272415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FEEDBACK → FINAL RESULT</a:t>
              </a:r>
            </a:p>
          </p:txBody>
        </p:sp>
        <p:sp>
          <p:nvSpPr>
            <p:cNvPr id="28" name="TextBox 28"/>
            <p:cNvSpPr txBox="1"/>
            <p:nvPr/>
          </p:nvSpPr>
          <p:spPr>
            <a:xfrm>
              <a:off x="8115300" y="2400300"/>
              <a:ext cx="31432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CLEAR OWNERSHIP</a:t>
              </a:r>
            </a:p>
          </p:txBody>
        </p:sp>
        <p:sp>
          <p:nvSpPr>
            <p:cNvPr id="29" name="TextBox 29"/>
            <p:cNvSpPr txBox="1"/>
            <p:nvPr/>
          </p:nvSpPr>
          <p:spPr>
            <a:xfrm>
              <a:off x="8115300" y="2667000"/>
              <a:ext cx="3143250" cy="266700"/>
            </a:xfrm>
            <a:prstGeom prst="rect">
              <a:avLst/>
            </a:prstGeom>
            <a:noFill/>
            <a:ln>
              <a:noFill/>
            </a:ln>
          </p:spPr>
          <p:txBody>
            <a:bodyPr wrap="square" lIns="0" tIns="28575" rIns="0" bIns="0" anchor="t" anchorCtr="0">
              <a:noAutofit/>
            </a:bodyPr>
            <a:lstStyle/>
            <a:p>
              <a:pPr algn="l"/>
              <a:r>
                <a:rPr lang="en-US" sz="1500" b="1" dirty="0">
                  <a:solidFill>
                    <a:schemeClr val="accent1"/>
                  </a:solidFill>
                  <a:latin typeface="+mn-lt"/>
                  <a:ea typeface="+mn-ea"/>
                  <a:cs typeface="+mn-cs"/>
                </a:rPr>
                <a:t>Named owner per system layer</a:t>
              </a:r>
            </a:p>
          </p:txBody>
        </p:sp>
        <p:sp>
          <p:nvSpPr>
            <p:cNvPr id="30" name="Line 30"/>
            <p:cNvSpPr/>
            <p:nvPr/>
          </p:nvSpPr>
          <p:spPr>
            <a:xfrm>
              <a:off x="8115300" y="3105150"/>
              <a:ext cx="3219450" cy="9525"/>
            </a:xfrm>
            <a:custGeom>
              <a:avLst/>
              <a:gdLst/>
              <a:ahLst/>
              <a:cxnLst/>
              <a:rect l="l" t="t" r="r" b="b"/>
              <a:pathLst>
                <a:path w="3219450" h="9525">
                  <a:moveTo>
                    <a:pt x="0" y="0"/>
                  </a:moveTo>
                  <a:lnTo>
                    <a:pt x="3219450" y="0"/>
                  </a:lnTo>
                </a:path>
              </a:pathLst>
            </a:custGeom>
            <a:noFill/>
            <a:ln w="9525">
              <a:solidFill>
                <a:srgbClr val="CBD5E1"/>
              </a:solidFill>
            </a:ln>
          </p:spPr>
          <p:txBody>
            <a:bodyPr/>
            <a:lstStyle/>
            <a:p>
              <a:endParaRPr lang="en-US"/>
            </a:p>
          </p:txBody>
        </p:sp>
        <p:sp>
          <p:nvSpPr>
            <p:cNvPr id="31" name="TextBox 31"/>
            <p:cNvSpPr txBox="1"/>
            <p:nvPr/>
          </p:nvSpPr>
          <p:spPr>
            <a:xfrm>
              <a:off x="8115300" y="3238500"/>
              <a:ext cx="31432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TESTABLE LOGIC</a:t>
              </a:r>
            </a:p>
          </p:txBody>
        </p:sp>
        <p:sp>
          <p:nvSpPr>
            <p:cNvPr id="32" name="TextBox 32"/>
            <p:cNvSpPr txBox="1"/>
            <p:nvPr/>
          </p:nvSpPr>
          <p:spPr>
            <a:xfrm>
              <a:off x="8115300" y="3505200"/>
              <a:ext cx="3143250" cy="266700"/>
            </a:xfrm>
            <a:prstGeom prst="rect">
              <a:avLst/>
            </a:prstGeom>
            <a:noFill/>
            <a:ln>
              <a:noFill/>
            </a:ln>
          </p:spPr>
          <p:txBody>
            <a:bodyPr wrap="square" lIns="0" tIns="28575" rIns="0" bIns="0" anchor="t" anchorCtr="0">
              <a:noAutofit/>
            </a:bodyPr>
            <a:lstStyle/>
            <a:p>
              <a:pPr algn="l"/>
              <a:r>
                <a:rPr lang="en-US" sz="1500" b="1" dirty="0">
                  <a:solidFill>
                    <a:schemeClr val="accent1"/>
                  </a:solidFill>
                  <a:latin typeface="+mn-lt"/>
                  <a:ea typeface="+mn-ea"/>
                  <a:cs typeface="+mn-cs"/>
                </a:rPr>
                <a:t>Pure logic split from </a:t>
              </a:r>
              <a:r>
                <a:rPr lang="en-US" sz="1500" b="1" dirty="0" err="1">
                  <a:solidFill>
                    <a:schemeClr val="accent1"/>
                  </a:solidFill>
                  <a:latin typeface="+mn-lt"/>
                  <a:ea typeface="+mn-ea"/>
                  <a:cs typeface="+mn-cs"/>
                </a:rPr>
                <a:t>ateways</a:t>
              </a:r>
              <a:endParaRPr lang="en-US" sz="1500" b="1" dirty="0">
                <a:solidFill>
                  <a:schemeClr val="accent1"/>
                </a:solidFill>
                <a:latin typeface="+mn-lt"/>
                <a:ea typeface="+mn-ea"/>
                <a:cs typeface="+mn-cs"/>
              </a:endParaRPr>
            </a:p>
          </p:txBody>
        </p:sp>
        <p:sp>
          <p:nvSpPr>
            <p:cNvPr id="33" name="Line 33"/>
            <p:cNvSpPr/>
            <p:nvPr/>
          </p:nvSpPr>
          <p:spPr>
            <a:xfrm>
              <a:off x="8115300" y="3943350"/>
              <a:ext cx="3219450" cy="9525"/>
            </a:xfrm>
            <a:custGeom>
              <a:avLst/>
              <a:gdLst/>
              <a:ahLst/>
              <a:cxnLst/>
              <a:rect l="l" t="t" r="r" b="b"/>
              <a:pathLst>
                <a:path w="3219450" h="9525">
                  <a:moveTo>
                    <a:pt x="0" y="0"/>
                  </a:moveTo>
                  <a:lnTo>
                    <a:pt x="3219450" y="0"/>
                  </a:lnTo>
                </a:path>
              </a:pathLst>
            </a:custGeom>
            <a:noFill/>
            <a:ln w="9525">
              <a:solidFill>
                <a:srgbClr val="CBD5E1"/>
              </a:solidFill>
            </a:ln>
          </p:spPr>
          <p:txBody>
            <a:bodyPr/>
            <a:lstStyle/>
            <a:p>
              <a:endParaRPr lang="en-US"/>
            </a:p>
          </p:txBody>
        </p:sp>
        <p:sp>
          <p:nvSpPr>
            <p:cNvPr id="34" name="TextBox 34"/>
            <p:cNvSpPr txBox="1"/>
            <p:nvPr/>
          </p:nvSpPr>
          <p:spPr>
            <a:xfrm>
              <a:off x="8115300" y="4076700"/>
              <a:ext cx="31432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SAFE RECALL</a:t>
              </a:r>
            </a:p>
          </p:txBody>
        </p:sp>
        <p:sp>
          <p:nvSpPr>
            <p:cNvPr id="35" name="TextBox 35"/>
            <p:cNvSpPr txBox="1"/>
            <p:nvPr/>
          </p:nvSpPr>
          <p:spPr>
            <a:xfrm>
              <a:off x="8115300" y="4343400"/>
              <a:ext cx="3143250" cy="266700"/>
            </a:xfrm>
            <a:prstGeom prst="rect">
              <a:avLst/>
            </a:prstGeom>
            <a:noFill/>
            <a:ln>
              <a:noFill/>
            </a:ln>
          </p:spPr>
          <p:txBody>
            <a:bodyPr wrap="square" lIns="0" tIns="28575" rIns="0" bIns="0" anchor="t" anchorCtr="0">
              <a:noAutofit/>
            </a:bodyPr>
            <a:lstStyle/>
            <a:p>
              <a:pPr algn="l"/>
              <a:r>
                <a:rPr lang="en-US" sz="1500" b="1" dirty="0">
                  <a:solidFill>
                    <a:schemeClr val="accent1"/>
                  </a:solidFill>
                  <a:latin typeface="+mn-lt"/>
                  <a:ea typeface="+mn-ea"/>
                  <a:cs typeface="+mn-cs"/>
                </a:rPr>
                <a:t>BFS + visited set</a:t>
              </a:r>
            </a:p>
          </p:txBody>
        </p:sp>
        <p:sp>
          <p:nvSpPr>
            <p:cNvPr id="36" name="Line 36"/>
            <p:cNvSpPr/>
            <p:nvPr/>
          </p:nvSpPr>
          <p:spPr>
            <a:xfrm>
              <a:off x="8115300" y="4781550"/>
              <a:ext cx="3219450" cy="9525"/>
            </a:xfrm>
            <a:custGeom>
              <a:avLst/>
              <a:gdLst/>
              <a:ahLst/>
              <a:cxnLst/>
              <a:rect l="l" t="t" r="r" b="b"/>
              <a:pathLst>
                <a:path w="3219450" h="9525">
                  <a:moveTo>
                    <a:pt x="0" y="0"/>
                  </a:moveTo>
                  <a:lnTo>
                    <a:pt x="3219450" y="0"/>
                  </a:lnTo>
                </a:path>
              </a:pathLst>
            </a:custGeom>
            <a:noFill/>
            <a:ln w="9525">
              <a:solidFill>
                <a:srgbClr val="CBD5E1"/>
              </a:solidFill>
            </a:ln>
          </p:spPr>
          <p:txBody>
            <a:bodyPr/>
            <a:lstStyle/>
            <a:p>
              <a:endParaRPr lang="en-US"/>
            </a:p>
          </p:txBody>
        </p:sp>
        <p:sp>
          <p:nvSpPr>
            <p:cNvPr id="37" name="TextBox 37"/>
            <p:cNvSpPr txBox="1"/>
            <p:nvPr/>
          </p:nvSpPr>
          <p:spPr>
            <a:xfrm>
              <a:off x="8115300" y="4914900"/>
              <a:ext cx="3143250" cy="228600"/>
            </a:xfrm>
            <a:prstGeom prst="rect">
              <a:avLst/>
            </a:prstGeom>
            <a:noFill/>
            <a:ln>
              <a:noFill/>
            </a:ln>
          </p:spPr>
          <p:txBody>
            <a:bodyPr wrap="square" lIns="0" tIns="41910" rIns="0" bIns="0" anchor="t" anchorCtr="0">
              <a:noAutofit/>
            </a:bodyPr>
            <a:lstStyle/>
            <a:p>
              <a:pPr algn="l"/>
              <a:r>
                <a:rPr lang="en-US" sz="1200" b="1" dirty="0">
                  <a:solidFill>
                    <a:schemeClr val="accent2"/>
                  </a:solidFill>
                  <a:latin typeface="Consolas"/>
                  <a:ea typeface="Consolas"/>
                  <a:cs typeface="Consolas"/>
                </a:rPr>
                <a:t>DEMO READINESS</a:t>
              </a:r>
            </a:p>
          </p:txBody>
        </p:sp>
        <p:sp>
          <p:nvSpPr>
            <p:cNvPr id="38" name="TextBox 38"/>
            <p:cNvSpPr txBox="1"/>
            <p:nvPr/>
          </p:nvSpPr>
          <p:spPr>
            <a:xfrm>
              <a:off x="8115300" y="5181600"/>
              <a:ext cx="3143250" cy="266700"/>
            </a:xfrm>
            <a:prstGeom prst="rect">
              <a:avLst/>
            </a:prstGeom>
            <a:noFill/>
            <a:ln>
              <a:noFill/>
            </a:ln>
          </p:spPr>
          <p:txBody>
            <a:bodyPr wrap="square" lIns="0" tIns="28575" rIns="0" bIns="0" anchor="t" anchorCtr="0">
              <a:noAutofit/>
            </a:bodyPr>
            <a:lstStyle/>
            <a:p>
              <a:pPr algn="l"/>
              <a:r>
                <a:rPr lang="en-US" sz="1500" b="1" dirty="0">
                  <a:solidFill>
                    <a:schemeClr val="accent1"/>
                  </a:solidFill>
                  <a:latin typeface="+mn-lt"/>
                  <a:ea typeface="+mn-ea"/>
                  <a:cs typeface="+mn-cs"/>
                </a:rPr>
                <a:t>CI + Fabric integration / E2E</a:t>
              </a:r>
            </a:p>
          </p:txBody>
        </p:sp>
      </p:grpSp>
      <p:grpSp>
        <p:nvGrpSpPr>
          <p:cNvPr id="43" name="Group 43"/>
          <p:cNvGrpSpPr/>
          <p:nvPr/>
        </p:nvGrpSpPr>
        <p:grpSpPr>
          <a:xfrm>
            <a:off x="609600" y="5905500"/>
            <a:ext cx="10972800" cy="838200"/>
            <a:chOff x="609600" y="5905500"/>
            <a:chExt cx="10972800" cy="838200"/>
          </a:xfrm>
        </p:grpSpPr>
        <p:sp>
          <p:nvSpPr>
            <p:cNvPr id="40" name="Rectangle 40"/>
            <p:cNvSpPr/>
            <p:nvPr/>
          </p:nvSpPr>
          <p:spPr>
            <a:xfrm>
              <a:off x="609600" y="5905500"/>
              <a:ext cx="10972800" cy="514350"/>
            </a:xfrm>
            <a:prstGeom prst="rect">
              <a:avLst/>
            </a:prstGeom>
            <a:solidFill>
              <a:schemeClr val="accent1"/>
            </a:solidFill>
            <a:ln>
              <a:noFill/>
            </a:ln>
          </p:spPr>
          <p:txBody>
            <a:bodyPr/>
            <a:lstStyle/>
            <a:p>
              <a:endParaRPr lang="en-US"/>
            </a:p>
          </p:txBody>
        </p:sp>
        <p:sp>
          <p:nvSpPr>
            <p:cNvPr id="41" name="TextBox 41"/>
            <p:cNvSpPr txBox="1"/>
            <p:nvPr/>
          </p:nvSpPr>
          <p:spPr>
            <a:xfrm>
              <a:off x="838200" y="6067425"/>
              <a:ext cx="10477500" cy="228600"/>
            </a:xfrm>
            <a:prstGeom prst="rect">
              <a:avLst/>
            </a:prstGeom>
            <a:noFill/>
            <a:ln>
              <a:noFill/>
            </a:ln>
          </p:spPr>
          <p:txBody>
            <a:bodyPr wrap="square" lIns="0" tIns="22860" rIns="0" bIns="0" anchor="t" anchorCtr="0">
              <a:noAutofit/>
            </a:bodyPr>
            <a:lstStyle/>
            <a:p>
              <a:pPr algn="l"/>
              <a:r>
                <a:rPr lang="en-US" sz="1200" b="1" dirty="0">
                  <a:solidFill>
                    <a:srgbClr val="FFFFFF"/>
                  </a:solidFill>
                  <a:latin typeface="Consolas"/>
                  <a:ea typeface="Consolas"/>
                  <a:cs typeface="Consolas"/>
                </a:rPr>
                <a:t>FEEDBACK → CODE CHANGE → TEST EVIDENCE → LIVE DEMO</a:t>
              </a:r>
            </a:p>
          </p:txBody>
        </p:sp>
        <p:sp>
          <p:nvSpPr>
            <p:cNvPr id="42" name="TextBox 42"/>
            <p:cNvSpPr txBox="1"/>
            <p:nvPr/>
          </p:nvSpPr>
          <p:spPr>
            <a:xfrm>
              <a:off x="10668000" y="65151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03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38150"/>
            <a:ext cx="10972800" cy="923925"/>
            <a:chOff x="609600" y="438150"/>
            <a:chExt cx="10972800" cy="923925"/>
          </a:xfrm>
        </p:grpSpPr>
        <p:sp>
          <p:nvSpPr>
            <p:cNvPr id="2" name="TextBox 2"/>
            <p:cNvSpPr txBox="1"/>
            <p:nvPr/>
          </p:nvSpPr>
          <p:spPr>
            <a:xfrm>
              <a:off x="609600" y="438150"/>
              <a:ext cx="47625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04 / PERSON 1 · ON-CHAIN</a:t>
              </a:r>
            </a:p>
          </p:txBody>
        </p:sp>
        <p:sp>
          <p:nvSpPr>
            <p:cNvPr id="3" name="TextBox 3"/>
            <p:cNvSpPr txBox="1"/>
            <p:nvPr/>
          </p:nvSpPr>
          <p:spPr>
            <a:xfrm>
              <a:off x="609600" y="742950"/>
              <a:ext cx="9525000" cy="495300"/>
            </a:xfrm>
            <a:prstGeom prst="rect">
              <a:avLst/>
            </a:prstGeom>
            <a:noFill/>
            <a:ln>
              <a:noFill/>
            </a:ln>
          </p:spPr>
          <p:txBody>
            <a:bodyPr wrap="square" lIns="0" tIns="21908" rIns="0" bIns="0" anchor="t" anchorCtr="0">
              <a:noAutofit/>
            </a:bodyPr>
            <a:lstStyle/>
            <a:p>
              <a:pPr algn="l"/>
              <a:r>
                <a:rPr lang="en-US" sz="3150" b="1" dirty="0">
                  <a:solidFill>
                    <a:schemeClr val="dk1"/>
                  </a:solidFill>
                  <a:latin typeface="+mn-lt"/>
                  <a:ea typeface="+mn-ea"/>
                  <a:cs typeface="+mn-cs"/>
                </a:rPr>
                <a:t>Yan, Chaoliang (Lawrence) — batch-registry</a:t>
              </a:r>
            </a:p>
          </p:txBody>
        </p:sp>
        <p:sp>
          <p:nvSpPr>
            <p:cNvPr id="4" name="Line 4"/>
            <p:cNvSpPr/>
            <p:nvPr/>
          </p:nvSpPr>
          <p:spPr>
            <a:xfrm>
              <a:off x="609600" y="1352550"/>
              <a:ext cx="10972800" cy="9525"/>
            </a:xfrm>
            <a:custGeom>
              <a:avLst/>
              <a:gdLst/>
              <a:ahLst/>
              <a:cxnLst/>
              <a:rect l="l" t="t" r="r" b="b"/>
              <a:pathLst>
                <a:path w="10972800" h="9525">
                  <a:moveTo>
                    <a:pt x="0" y="0"/>
                  </a:moveTo>
                  <a:lnTo>
                    <a:pt x="10972800" y="0"/>
                  </a:lnTo>
                </a:path>
              </a:pathLst>
            </a:custGeom>
            <a:noFill/>
            <a:ln w="19050">
              <a:solidFill>
                <a:schemeClr val="accent1"/>
              </a:solidFill>
            </a:ln>
          </p:spPr>
          <p:txBody>
            <a:bodyPr/>
            <a:lstStyle/>
            <a:p>
              <a:endParaRPr lang="en-US"/>
            </a:p>
          </p:txBody>
        </p:sp>
      </p:grpSp>
      <p:grpSp>
        <p:nvGrpSpPr>
          <p:cNvPr id="23" name="Group 23"/>
          <p:cNvGrpSpPr/>
          <p:nvPr/>
        </p:nvGrpSpPr>
        <p:grpSpPr>
          <a:xfrm>
            <a:off x="609600" y="1619250"/>
            <a:ext cx="3429000" cy="4038600"/>
            <a:chOff x="609600" y="1619250"/>
            <a:chExt cx="3429000" cy="4038600"/>
          </a:xfrm>
        </p:grpSpPr>
        <p:sp>
          <p:nvSpPr>
            <p:cNvPr id="6" name="Rectangle 6"/>
            <p:cNvSpPr/>
            <p:nvPr/>
          </p:nvSpPr>
          <p:spPr>
            <a:xfrm>
              <a:off x="609600" y="1619250"/>
              <a:ext cx="3429000" cy="4038600"/>
            </a:xfrm>
            <a:prstGeom prst="rect">
              <a:avLst/>
            </a:prstGeom>
            <a:solidFill>
              <a:schemeClr val="accent5"/>
            </a:solidFill>
            <a:ln>
              <a:noFill/>
            </a:ln>
          </p:spPr>
          <p:txBody>
            <a:bodyPr/>
            <a:lstStyle/>
            <a:p>
              <a:endParaRPr lang="en-US"/>
            </a:p>
          </p:txBody>
        </p:sp>
        <p:sp>
          <p:nvSpPr>
            <p:cNvPr id="7" name="Rectangle 7"/>
            <p:cNvSpPr/>
            <p:nvPr/>
          </p:nvSpPr>
          <p:spPr>
            <a:xfrm>
              <a:off x="609600" y="1619250"/>
              <a:ext cx="76200" cy="4038600"/>
            </a:xfrm>
            <a:prstGeom prst="rect">
              <a:avLst/>
            </a:prstGeom>
            <a:solidFill>
              <a:schemeClr val="accent1"/>
            </a:solidFill>
            <a:ln>
              <a:noFill/>
            </a:ln>
          </p:spPr>
          <p:txBody>
            <a:bodyPr/>
            <a:lstStyle/>
            <a:p>
              <a:endParaRPr lang="en-US"/>
            </a:p>
          </p:txBody>
        </p:sp>
        <p:grpSp>
          <p:nvGrpSpPr>
            <p:cNvPr id="11" name="Group 11"/>
            <p:cNvGrpSpPr/>
            <p:nvPr/>
          </p:nvGrpSpPr>
          <p:grpSpPr>
            <a:xfrm>
              <a:off x="971550" y="1943100"/>
              <a:ext cx="266700" cy="342900"/>
              <a:chOff x="971550" y="1943100"/>
              <a:chExt cx="266700" cy="342900"/>
            </a:xfrm>
          </p:grpSpPr>
          <p:sp>
            <p:nvSpPr>
              <p:cNvPr id="8" name="Freeform 8"/>
              <p:cNvSpPr/>
              <p:nvPr/>
            </p:nvSpPr>
            <p:spPr>
              <a:xfrm>
                <a:off x="971550" y="2095500"/>
                <a:ext cx="266700" cy="190500"/>
              </a:xfrm>
              <a:custGeom>
                <a:avLst/>
                <a:gdLst/>
                <a:ahLst/>
                <a:cxnLst/>
                <a:rect l="l" t="t" r="r" b="b"/>
                <a:pathLst>
                  <a:path w="266700" h="190500">
                    <a:moveTo>
                      <a:pt x="0" y="38100"/>
                    </a:moveTo>
                    <a:cubicBezTo>
                      <a:pt x="0" y="17058"/>
                      <a:pt x="17058" y="0"/>
                      <a:pt x="38100" y="0"/>
                    </a:cubicBezTo>
                    <a:lnTo>
                      <a:pt x="228600" y="0"/>
                    </a:lnTo>
                    <a:cubicBezTo>
                      <a:pt x="249642" y="0"/>
                      <a:pt x="266700" y="17058"/>
                      <a:pt x="266700" y="38100"/>
                    </a:cubicBezTo>
                    <a:lnTo>
                      <a:pt x="266700" y="152400"/>
                    </a:lnTo>
                    <a:cubicBezTo>
                      <a:pt x="266700" y="173442"/>
                      <a:pt x="249642" y="190500"/>
                      <a:pt x="228600" y="190500"/>
                    </a:cubicBezTo>
                    <a:lnTo>
                      <a:pt x="38100" y="190500"/>
                    </a:lnTo>
                    <a:cubicBezTo>
                      <a:pt x="17058" y="190500"/>
                      <a:pt x="0" y="173442"/>
                      <a:pt x="0" y="152400"/>
                    </a:cubicBezTo>
                    <a:lnTo>
                      <a:pt x="0" y="38100"/>
                    </a:lnTo>
                  </a:path>
                </a:pathLst>
              </a:custGeom>
              <a:noFill/>
              <a:ln w="38100">
                <a:solidFill>
                  <a:schemeClr val="accent1"/>
                </a:solidFill>
              </a:ln>
            </p:spPr>
            <p:txBody>
              <a:bodyPr/>
              <a:lstStyle/>
              <a:p>
                <a:endParaRPr lang="en-US"/>
              </a:p>
            </p:txBody>
          </p:sp>
          <p:sp>
            <p:nvSpPr>
              <p:cNvPr id="9" name="Freeform 9"/>
              <p:cNvSpPr/>
              <p:nvPr/>
            </p:nvSpPr>
            <p:spPr>
              <a:xfrm>
                <a:off x="1085850" y="21717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38100">
                <a:solidFill>
                  <a:schemeClr val="accent1"/>
                </a:solidFill>
              </a:ln>
            </p:spPr>
            <p:txBody>
              <a:bodyPr/>
              <a:lstStyle/>
              <a:p>
                <a:endParaRPr lang="en-US"/>
              </a:p>
            </p:txBody>
          </p:sp>
          <p:sp>
            <p:nvSpPr>
              <p:cNvPr id="10" name="Freeform 10"/>
              <p:cNvSpPr/>
              <p:nvPr/>
            </p:nvSpPr>
            <p:spPr>
              <a:xfrm>
                <a:off x="1028700" y="1943100"/>
                <a:ext cx="152400" cy="152400"/>
              </a:xfrm>
              <a:custGeom>
                <a:avLst/>
                <a:gdLst/>
                <a:ahLst/>
                <a:cxnLst/>
                <a:rect l="l" t="t" r="r" b="b"/>
                <a:pathLst>
                  <a:path w="152400" h="152400">
                    <a:moveTo>
                      <a:pt x="0" y="152400"/>
                    </a:moveTo>
                    <a:lnTo>
                      <a:pt x="0" y="76200"/>
                    </a:lnTo>
                    <a:cubicBezTo>
                      <a:pt x="0" y="34116"/>
                      <a:pt x="34116" y="0"/>
                      <a:pt x="76200" y="0"/>
                    </a:cubicBezTo>
                    <a:cubicBezTo>
                      <a:pt x="118284" y="0"/>
                      <a:pt x="152400" y="34116"/>
                      <a:pt x="152400" y="76200"/>
                    </a:cubicBezTo>
                    <a:lnTo>
                      <a:pt x="152400" y="152400"/>
                    </a:lnTo>
                  </a:path>
                </a:pathLst>
              </a:custGeom>
              <a:noFill/>
              <a:ln w="38100">
                <a:solidFill>
                  <a:schemeClr val="accent1"/>
                </a:solidFill>
              </a:ln>
            </p:spPr>
            <p:txBody>
              <a:bodyPr/>
              <a:lstStyle/>
              <a:p>
                <a:endParaRPr lang="en-US"/>
              </a:p>
            </p:txBody>
          </p:sp>
        </p:grpSp>
        <p:sp>
          <p:nvSpPr>
            <p:cNvPr id="12" name="TextBox 12"/>
            <p:cNvSpPr txBox="1"/>
            <p:nvPr/>
          </p:nvSpPr>
          <p:spPr>
            <a:xfrm>
              <a:off x="1524000" y="1885950"/>
              <a:ext cx="21907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OWNS</a:t>
              </a:r>
            </a:p>
          </p:txBody>
        </p:sp>
        <p:sp>
          <p:nvSpPr>
            <p:cNvPr id="13" name="TextBox 13"/>
            <p:cNvSpPr txBox="1"/>
            <p:nvPr/>
          </p:nvSpPr>
          <p:spPr>
            <a:xfrm>
              <a:off x="1524000" y="2152650"/>
              <a:ext cx="2190750" cy="285750"/>
            </a:xfrm>
            <a:prstGeom prst="rect">
              <a:avLst/>
            </a:prstGeom>
            <a:noFill/>
            <a:ln>
              <a:noFill/>
            </a:ln>
          </p:spPr>
          <p:txBody>
            <a:bodyPr wrap="square" lIns="0" tIns="15240" rIns="0" bIns="0" anchor="t" anchorCtr="0">
              <a:noAutofit/>
            </a:bodyPr>
            <a:lstStyle/>
            <a:p>
              <a:pPr algn="l"/>
              <a:r>
                <a:rPr lang="en-US" sz="1800" b="1" dirty="0">
                  <a:solidFill>
                    <a:schemeClr val="accent1"/>
                  </a:solidFill>
                  <a:latin typeface="+mn-lt"/>
                  <a:ea typeface="+mn-ea"/>
                  <a:cs typeface="+mn-cs"/>
                </a:rPr>
                <a:t>batch-registry</a:t>
              </a:r>
            </a:p>
          </p:txBody>
        </p:sp>
        <p:sp>
          <p:nvSpPr>
            <p:cNvPr id="14" name="Line 14"/>
            <p:cNvSpPr/>
            <p:nvPr/>
          </p:nvSpPr>
          <p:spPr>
            <a:xfrm>
              <a:off x="876300" y="262890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15" name="TextBox 15"/>
            <p:cNvSpPr txBox="1"/>
            <p:nvPr/>
          </p:nvSpPr>
          <p:spPr>
            <a:xfrm>
              <a:off x="876300" y="278130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KEY FILES</a:t>
              </a:r>
            </a:p>
          </p:txBody>
        </p:sp>
        <p:sp>
          <p:nvSpPr>
            <p:cNvPr id="16" name="TextBox 16"/>
            <p:cNvSpPr txBox="1"/>
            <p:nvPr/>
          </p:nvSpPr>
          <p:spPr>
            <a:xfrm>
              <a:off x="876300" y="31242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batchRegistry.ts</a:t>
              </a:r>
            </a:p>
          </p:txBody>
        </p:sp>
        <p:sp>
          <p:nvSpPr>
            <p:cNvPr id="17" name="TextBox 17"/>
            <p:cNvSpPr txBox="1"/>
            <p:nvPr/>
          </p:nvSpPr>
          <p:spPr>
            <a:xfrm>
              <a:off x="876300" y="34290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access.ts</a:t>
              </a:r>
            </a:p>
          </p:txBody>
        </p:sp>
        <p:sp>
          <p:nvSpPr>
            <p:cNvPr id="18" name="TextBox 18"/>
            <p:cNvSpPr txBox="1"/>
            <p:nvPr/>
          </p:nvSpPr>
          <p:spPr>
            <a:xfrm>
              <a:off x="876300" y="37338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privateData.ts</a:t>
              </a:r>
            </a:p>
          </p:txBody>
        </p:sp>
        <p:sp>
          <p:nvSpPr>
            <p:cNvPr id="19" name="TextBox 19"/>
            <p:cNvSpPr txBox="1"/>
            <p:nvPr/>
          </p:nvSpPr>
          <p:spPr>
            <a:xfrm>
              <a:off x="876300" y="40386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stateMachine.ts</a:t>
              </a:r>
            </a:p>
          </p:txBody>
        </p:sp>
        <p:sp>
          <p:nvSpPr>
            <p:cNvPr id="20" name="Line 20"/>
            <p:cNvSpPr/>
            <p:nvPr/>
          </p:nvSpPr>
          <p:spPr>
            <a:xfrm>
              <a:off x="876300" y="447675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21" name="TextBox 21"/>
            <p:cNvSpPr txBox="1"/>
            <p:nvPr/>
          </p:nvSpPr>
          <p:spPr>
            <a:xfrm>
              <a:off x="876300" y="462915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DEMO PROOF</a:t>
              </a:r>
            </a:p>
          </p:txBody>
        </p:sp>
        <p:sp>
          <p:nvSpPr>
            <p:cNvPr id="22" name="TextBox 22"/>
            <p:cNvSpPr txBox="1"/>
            <p:nvPr/>
          </p:nvSpPr>
          <p:spPr>
            <a:xfrm>
              <a:off x="876300" y="4991100"/>
              <a:ext cx="2781300" cy="266700"/>
            </a:xfrm>
            <a:prstGeom prst="rect">
              <a:avLst/>
            </a:prstGeom>
            <a:noFill/>
            <a:ln>
              <a:noFill/>
            </a:ln>
          </p:spPr>
          <p:txBody>
            <a:bodyPr wrap="square" lIns="0" tIns="44768" rIns="0" bIns="0" anchor="t" anchorCtr="0">
              <a:noAutofit/>
            </a:bodyPr>
            <a:lstStyle/>
            <a:p>
              <a:pPr algn="l"/>
              <a:r>
                <a:rPr lang="en-US" sz="1350" b="1" dirty="0">
                  <a:solidFill>
                    <a:schemeClr val="accent1"/>
                  </a:solidFill>
                  <a:latin typeface="+mn-lt"/>
                  <a:ea typeface="+mn-ea"/>
                  <a:cs typeface="+mn-cs"/>
                </a:rPr>
                <a:t>REGISTER · REJECT · TRANSFER</a:t>
              </a:r>
            </a:p>
          </p:txBody>
        </p:sp>
      </p:grpSp>
      <p:grpSp>
        <p:nvGrpSpPr>
          <p:cNvPr id="53" name="Group 53"/>
          <p:cNvGrpSpPr/>
          <p:nvPr/>
        </p:nvGrpSpPr>
        <p:grpSpPr>
          <a:xfrm>
            <a:off x="4324350" y="1657350"/>
            <a:ext cx="7258050" cy="1733550"/>
            <a:chOff x="4324350" y="1657350"/>
            <a:chExt cx="7258050" cy="1733550"/>
          </a:xfrm>
        </p:grpSpPr>
        <p:sp>
          <p:nvSpPr>
            <p:cNvPr id="24" name="TextBox 24"/>
            <p:cNvSpPr txBox="1"/>
            <p:nvPr/>
          </p:nvSpPr>
          <p:spPr>
            <a:xfrm>
              <a:off x="4324350" y="1657350"/>
              <a:ext cx="38100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IMPLEMENTATION FLOW</a:t>
              </a:r>
            </a:p>
          </p:txBody>
        </p:sp>
        <p:sp>
          <p:nvSpPr>
            <p:cNvPr id="25" name="Rectangle 25"/>
            <p:cNvSpPr/>
            <p:nvPr/>
          </p:nvSpPr>
          <p:spPr>
            <a:xfrm>
              <a:off x="4324350" y="2076450"/>
              <a:ext cx="1619250" cy="514350"/>
            </a:xfrm>
            <a:prstGeom prst="rect">
              <a:avLst/>
            </a:prstGeom>
            <a:solidFill>
              <a:schemeClr val="accent1"/>
            </a:solidFill>
            <a:ln>
              <a:noFill/>
            </a:ln>
          </p:spPr>
          <p:txBody>
            <a:bodyPr/>
            <a:lstStyle/>
            <a:p>
              <a:endParaRPr lang="en-US"/>
            </a:p>
          </p:txBody>
        </p:sp>
        <p:sp>
          <p:nvSpPr>
            <p:cNvPr id="26" name="TextBox 26"/>
            <p:cNvSpPr txBox="1"/>
            <p:nvPr/>
          </p:nvSpPr>
          <p:spPr>
            <a:xfrm>
              <a:off x="4324350" y="2190750"/>
              <a:ext cx="1619250" cy="266700"/>
            </a:xfrm>
            <a:prstGeom prst="rect">
              <a:avLst/>
            </a:prstGeom>
            <a:noFill/>
            <a:ln>
              <a:noFill/>
            </a:ln>
          </p:spPr>
          <p:txBody>
            <a:bodyPr wrap="square" lIns="0" tIns="70485" rIns="0" bIns="0" anchor="t" anchorCtr="0">
              <a:noAutofit/>
            </a:bodyPr>
            <a:lstStyle/>
            <a:p>
              <a:pPr algn="ctr"/>
              <a:r>
                <a:rPr lang="en-US" sz="1200" b="1" dirty="0">
                  <a:solidFill>
                    <a:srgbClr val="FFFFFF"/>
                  </a:solidFill>
                  <a:latin typeface="Consolas"/>
                  <a:ea typeface="Consolas"/>
                  <a:cs typeface="Consolas"/>
                </a:rPr>
                <a:t>RegisterBatch</a:t>
              </a:r>
            </a:p>
          </p:txBody>
        </p:sp>
        <p:sp>
          <p:nvSpPr>
            <p:cNvPr id="27" name="Line 27"/>
            <p:cNvSpPr/>
            <p:nvPr/>
          </p:nvSpPr>
          <p:spPr>
            <a:xfrm>
              <a:off x="59436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28" name="Polygon 28"/>
            <p:cNvSpPr/>
            <p:nvPr/>
          </p:nvSpPr>
          <p:spPr>
            <a:xfrm>
              <a:off x="61531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29" name="Rectangle 29"/>
            <p:cNvSpPr/>
            <p:nvPr/>
          </p:nvSpPr>
          <p:spPr>
            <a:xfrm>
              <a:off x="6267450" y="2076450"/>
              <a:ext cx="1428750" cy="514350"/>
            </a:xfrm>
            <a:prstGeom prst="rect">
              <a:avLst/>
            </a:prstGeom>
            <a:solidFill>
              <a:schemeClr val="accent5"/>
            </a:solidFill>
            <a:ln w="19050">
              <a:solidFill>
                <a:schemeClr val="accent1"/>
              </a:solidFill>
            </a:ln>
          </p:spPr>
          <p:txBody>
            <a:bodyPr/>
            <a:lstStyle/>
            <a:p>
              <a:endParaRPr lang="en-US"/>
            </a:p>
          </p:txBody>
        </p:sp>
        <p:sp>
          <p:nvSpPr>
            <p:cNvPr id="30" name="TextBox 30"/>
            <p:cNvSpPr txBox="1"/>
            <p:nvPr/>
          </p:nvSpPr>
          <p:spPr>
            <a:xfrm>
              <a:off x="6267450" y="2190750"/>
              <a:ext cx="1428750" cy="266700"/>
            </a:xfrm>
            <a:prstGeom prst="rect">
              <a:avLst/>
            </a:prstGeom>
            <a:noFill/>
            <a:ln>
              <a:noFill/>
            </a:ln>
          </p:spPr>
          <p:txBody>
            <a:bodyPr wrap="square" lIns="0" tIns="70485" rIns="0" bIns="0" anchor="t" anchorCtr="0">
              <a:noAutofit/>
            </a:bodyPr>
            <a:lstStyle/>
            <a:p>
              <a:pPr algn="ctr"/>
              <a:r>
                <a:rPr lang="en-US" sz="1200" b="1" dirty="0">
                  <a:solidFill>
                    <a:schemeClr val="accent1"/>
                  </a:solidFill>
                  <a:latin typeface="Consolas"/>
                  <a:ea typeface="Consolas"/>
                  <a:cs typeface="Consolas"/>
                </a:rPr>
                <a:t>assertRole</a:t>
              </a:r>
            </a:p>
          </p:txBody>
        </p:sp>
        <p:sp>
          <p:nvSpPr>
            <p:cNvPr id="31" name="Line 31"/>
            <p:cNvSpPr/>
            <p:nvPr/>
          </p:nvSpPr>
          <p:spPr>
            <a:xfrm>
              <a:off x="76962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32" name="Polygon 32"/>
            <p:cNvSpPr/>
            <p:nvPr/>
          </p:nvSpPr>
          <p:spPr>
            <a:xfrm>
              <a:off x="79057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33" name="Rectangle 33"/>
            <p:cNvSpPr/>
            <p:nvPr/>
          </p:nvSpPr>
          <p:spPr>
            <a:xfrm>
              <a:off x="8020050" y="2076450"/>
              <a:ext cx="1581150" cy="514350"/>
            </a:xfrm>
            <a:prstGeom prst="rect">
              <a:avLst/>
            </a:prstGeom>
            <a:solidFill>
              <a:schemeClr val="accent5"/>
            </a:solidFill>
            <a:ln w="19050">
              <a:solidFill>
                <a:schemeClr val="accent1"/>
              </a:solidFill>
            </a:ln>
          </p:spPr>
          <p:txBody>
            <a:bodyPr/>
            <a:lstStyle/>
            <a:p>
              <a:endParaRPr lang="en-US"/>
            </a:p>
          </p:txBody>
        </p:sp>
        <p:sp>
          <p:nvSpPr>
            <p:cNvPr id="34" name="TextBox 34"/>
            <p:cNvSpPr txBox="1"/>
            <p:nvPr/>
          </p:nvSpPr>
          <p:spPr>
            <a:xfrm>
              <a:off x="8020050" y="2190750"/>
              <a:ext cx="15811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write state</a:t>
              </a:r>
            </a:p>
          </p:txBody>
        </p:sp>
        <p:sp>
          <p:nvSpPr>
            <p:cNvPr id="35" name="Line 35"/>
            <p:cNvSpPr/>
            <p:nvPr/>
          </p:nvSpPr>
          <p:spPr>
            <a:xfrm>
              <a:off x="96012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36" name="Polygon 36"/>
            <p:cNvSpPr/>
            <p:nvPr/>
          </p:nvSpPr>
          <p:spPr>
            <a:xfrm>
              <a:off x="98107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37" name="Rectangle 37"/>
            <p:cNvSpPr/>
            <p:nvPr/>
          </p:nvSpPr>
          <p:spPr>
            <a:xfrm>
              <a:off x="9925050" y="2076450"/>
              <a:ext cx="1657350" cy="514350"/>
            </a:xfrm>
            <a:prstGeom prst="rect">
              <a:avLst/>
            </a:prstGeom>
            <a:solidFill>
              <a:schemeClr val="accent3"/>
            </a:solidFill>
            <a:ln>
              <a:noFill/>
            </a:ln>
          </p:spPr>
          <p:txBody>
            <a:bodyPr/>
            <a:lstStyle/>
            <a:p>
              <a:endParaRPr lang="en-US"/>
            </a:p>
          </p:txBody>
        </p:sp>
        <p:sp>
          <p:nvSpPr>
            <p:cNvPr id="38" name="TextBox 38"/>
            <p:cNvSpPr txBox="1"/>
            <p:nvPr/>
          </p:nvSpPr>
          <p:spPr>
            <a:xfrm>
              <a:off x="9925050" y="219075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private details</a:t>
              </a:r>
            </a:p>
          </p:txBody>
        </p:sp>
        <p:sp>
          <p:nvSpPr>
            <p:cNvPr id="39" name="Rectangle 39"/>
            <p:cNvSpPr/>
            <p:nvPr/>
          </p:nvSpPr>
          <p:spPr>
            <a:xfrm>
              <a:off x="4324350" y="2876550"/>
              <a:ext cx="1619250" cy="514350"/>
            </a:xfrm>
            <a:prstGeom prst="rect">
              <a:avLst/>
            </a:prstGeom>
            <a:solidFill>
              <a:schemeClr val="accent1"/>
            </a:solidFill>
            <a:ln>
              <a:noFill/>
            </a:ln>
          </p:spPr>
          <p:txBody>
            <a:bodyPr/>
            <a:lstStyle/>
            <a:p>
              <a:endParaRPr lang="en-US"/>
            </a:p>
          </p:txBody>
        </p:sp>
        <p:sp>
          <p:nvSpPr>
            <p:cNvPr id="40" name="TextBox 40"/>
            <p:cNvSpPr txBox="1"/>
            <p:nvPr/>
          </p:nvSpPr>
          <p:spPr>
            <a:xfrm>
              <a:off x="4324350" y="2990850"/>
              <a:ext cx="1619250" cy="266700"/>
            </a:xfrm>
            <a:prstGeom prst="rect">
              <a:avLst/>
            </a:prstGeom>
            <a:noFill/>
            <a:ln>
              <a:noFill/>
            </a:ln>
          </p:spPr>
          <p:txBody>
            <a:bodyPr wrap="square" lIns="0" tIns="70485" rIns="0" bIns="0" anchor="t" anchorCtr="0">
              <a:noAutofit/>
            </a:bodyPr>
            <a:lstStyle/>
            <a:p>
              <a:pPr algn="ctr"/>
              <a:r>
                <a:rPr lang="en-US" sz="1200" b="1" dirty="0">
                  <a:solidFill>
                    <a:srgbClr val="FFFFFF"/>
                  </a:solidFill>
                  <a:latin typeface="Consolas"/>
                  <a:ea typeface="Consolas"/>
                  <a:cs typeface="Consolas"/>
                </a:rPr>
                <a:t>TransferCustody</a:t>
              </a:r>
            </a:p>
          </p:txBody>
        </p:sp>
        <p:sp>
          <p:nvSpPr>
            <p:cNvPr id="41" name="Line 41"/>
            <p:cNvSpPr/>
            <p:nvPr/>
          </p:nvSpPr>
          <p:spPr>
            <a:xfrm>
              <a:off x="5943600" y="31337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2" name="Polygon 42"/>
            <p:cNvSpPr/>
            <p:nvPr/>
          </p:nvSpPr>
          <p:spPr>
            <a:xfrm>
              <a:off x="6153150" y="30670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3" name="Rectangle 43"/>
            <p:cNvSpPr/>
            <p:nvPr/>
          </p:nvSpPr>
          <p:spPr>
            <a:xfrm>
              <a:off x="6267450" y="2876550"/>
              <a:ext cx="1428750" cy="514350"/>
            </a:xfrm>
            <a:prstGeom prst="rect">
              <a:avLst/>
            </a:prstGeom>
            <a:solidFill>
              <a:schemeClr val="accent5"/>
            </a:solidFill>
            <a:ln w="19050">
              <a:solidFill>
                <a:schemeClr val="accent1"/>
              </a:solidFill>
            </a:ln>
          </p:spPr>
          <p:txBody>
            <a:bodyPr/>
            <a:lstStyle/>
            <a:p>
              <a:endParaRPr lang="en-US"/>
            </a:p>
          </p:txBody>
        </p:sp>
        <p:sp>
          <p:nvSpPr>
            <p:cNvPr id="44" name="TextBox 44"/>
            <p:cNvSpPr txBox="1"/>
            <p:nvPr/>
          </p:nvSpPr>
          <p:spPr>
            <a:xfrm>
              <a:off x="6267450" y="2990850"/>
              <a:ext cx="14287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current holder</a:t>
              </a:r>
            </a:p>
          </p:txBody>
        </p:sp>
        <p:sp>
          <p:nvSpPr>
            <p:cNvPr id="45" name="Line 45"/>
            <p:cNvSpPr/>
            <p:nvPr/>
          </p:nvSpPr>
          <p:spPr>
            <a:xfrm>
              <a:off x="7696200" y="31337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6" name="Polygon 46"/>
            <p:cNvSpPr/>
            <p:nvPr/>
          </p:nvSpPr>
          <p:spPr>
            <a:xfrm>
              <a:off x="7905750" y="30670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7" name="Rectangle 47"/>
            <p:cNvSpPr/>
            <p:nvPr/>
          </p:nvSpPr>
          <p:spPr>
            <a:xfrm>
              <a:off x="8020050" y="2876550"/>
              <a:ext cx="1581150" cy="514350"/>
            </a:xfrm>
            <a:prstGeom prst="rect">
              <a:avLst/>
            </a:prstGeom>
            <a:solidFill>
              <a:schemeClr val="accent5"/>
            </a:solidFill>
            <a:ln w="19050">
              <a:solidFill>
                <a:schemeClr val="accent1"/>
              </a:solidFill>
            </a:ln>
          </p:spPr>
          <p:txBody>
            <a:bodyPr/>
            <a:lstStyle/>
            <a:p>
              <a:endParaRPr lang="en-US"/>
            </a:p>
          </p:txBody>
        </p:sp>
        <p:sp>
          <p:nvSpPr>
            <p:cNvPr id="48" name="TextBox 48"/>
            <p:cNvSpPr txBox="1"/>
            <p:nvPr/>
          </p:nvSpPr>
          <p:spPr>
            <a:xfrm>
              <a:off x="8020050" y="2990850"/>
              <a:ext cx="1581150" cy="266700"/>
            </a:xfrm>
            <a:prstGeom prst="rect">
              <a:avLst/>
            </a:prstGeom>
            <a:noFill/>
            <a:ln>
              <a:noFill/>
            </a:ln>
          </p:spPr>
          <p:txBody>
            <a:bodyPr wrap="square" lIns="0" tIns="70485" rIns="0" bIns="0" anchor="t" anchorCtr="0">
              <a:noAutofit/>
            </a:bodyPr>
            <a:lstStyle/>
            <a:p>
              <a:pPr algn="ctr"/>
              <a:r>
                <a:rPr lang="en-US" sz="1200" b="1" dirty="0">
                  <a:solidFill>
                    <a:schemeClr val="accent1"/>
                  </a:solidFill>
                  <a:latin typeface="Consolas"/>
                  <a:ea typeface="Consolas"/>
                  <a:cs typeface="Consolas"/>
                </a:rPr>
                <a:t>assertTransition</a:t>
              </a:r>
            </a:p>
          </p:txBody>
        </p:sp>
        <p:sp>
          <p:nvSpPr>
            <p:cNvPr id="49" name="Line 49"/>
            <p:cNvSpPr/>
            <p:nvPr/>
          </p:nvSpPr>
          <p:spPr>
            <a:xfrm>
              <a:off x="9601200" y="31337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50" name="Polygon 50"/>
            <p:cNvSpPr/>
            <p:nvPr/>
          </p:nvSpPr>
          <p:spPr>
            <a:xfrm>
              <a:off x="9810750" y="30670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51" name="Rectangle 51"/>
            <p:cNvSpPr/>
            <p:nvPr/>
          </p:nvSpPr>
          <p:spPr>
            <a:xfrm>
              <a:off x="9925050" y="2876550"/>
              <a:ext cx="1657350" cy="514350"/>
            </a:xfrm>
            <a:prstGeom prst="rect">
              <a:avLst/>
            </a:prstGeom>
            <a:solidFill>
              <a:schemeClr val="accent3"/>
            </a:solidFill>
            <a:ln>
              <a:noFill/>
            </a:ln>
          </p:spPr>
          <p:txBody>
            <a:bodyPr/>
            <a:lstStyle/>
            <a:p>
              <a:endParaRPr lang="en-US"/>
            </a:p>
          </p:txBody>
        </p:sp>
        <p:sp>
          <p:nvSpPr>
            <p:cNvPr id="52" name="TextBox 52"/>
            <p:cNvSpPr txBox="1"/>
            <p:nvPr/>
          </p:nvSpPr>
          <p:spPr>
            <a:xfrm>
              <a:off x="9925050" y="299085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emit event</a:t>
              </a:r>
            </a:p>
          </p:txBody>
        </p:sp>
      </p:grpSp>
      <p:grpSp>
        <p:nvGrpSpPr>
          <p:cNvPr id="61" name="Group 61"/>
          <p:cNvGrpSpPr/>
          <p:nvPr/>
        </p:nvGrpSpPr>
        <p:grpSpPr>
          <a:xfrm>
            <a:off x="4324350" y="3829050"/>
            <a:ext cx="6972300" cy="1733550"/>
            <a:chOff x="4324350" y="3829050"/>
            <a:chExt cx="6972300" cy="1733550"/>
          </a:xfrm>
        </p:grpSpPr>
        <p:sp>
          <p:nvSpPr>
            <p:cNvPr id="54" name="TextBox 54"/>
            <p:cNvSpPr txBox="1"/>
            <p:nvPr/>
          </p:nvSpPr>
          <p:spPr>
            <a:xfrm>
              <a:off x="4324350" y="3829050"/>
              <a:ext cx="409575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WHAT THE CODE GUARANTEES</a:t>
              </a:r>
            </a:p>
          </p:txBody>
        </p:sp>
        <p:sp>
          <p:nvSpPr>
            <p:cNvPr id="55" name="Freeform 55"/>
            <p:cNvSpPr/>
            <p:nvPr/>
          </p:nvSpPr>
          <p:spPr>
            <a:xfrm>
              <a:off x="4387850" y="435610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6" name="TextBox 56"/>
            <p:cNvSpPr txBox="1"/>
            <p:nvPr/>
          </p:nvSpPr>
          <p:spPr>
            <a:xfrm>
              <a:off x="4819650" y="4286250"/>
              <a:ext cx="6477000" cy="285750"/>
            </a:xfrm>
            <a:prstGeom prst="rect">
              <a:avLst/>
            </a:prstGeom>
            <a:noFill/>
            <a:ln>
              <a:noFill/>
            </a:ln>
          </p:spPr>
          <p:txBody>
            <a:bodyPr wrap="square" lIns="0" tIns="21908" rIns="0" bIns="0" anchor="t" anchorCtr="0">
              <a:noAutofit/>
            </a:bodyPr>
            <a:lstStyle/>
            <a:p>
              <a:pPr algn="l"/>
              <a:r>
                <a:rPr lang="en-US" sz="1650" b="1" dirty="0">
                  <a:solidFill>
                    <a:schemeClr val="dk1"/>
                  </a:solidFill>
                  <a:latin typeface="+mn-lt"/>
                  <a:ea typeface="+mn-ea"/>
                  <a:cs typeface="+mn-cs"/>
                </a:rPr>
                <a:t>Only a producer can register a batch</a:t>
              </a:r>
            </a:p>
          </p:txBody>
        </p:sp>
        <p:sp>
          <p:nvSpPr>
            <p:cNvPr id="57" name="Freeform 57"/>
            <p:cNvSpPr/>
            <p:nvPr/>
          </p:nvSpPr>
          <p:spPr>
            <a:xfrm>
              <a:off x="4387850" y="485140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8" name="TextBox 58"/>
            <p:cNvSpPr txBox="1"/>
            <p:nvPr/>
          </p:nvSpPr>
          <p:spPr>
            <a:xfrm>
              <a:off x="4819650" y="4781550"/>
              <a:ext cx="6477000" cy="285750"/>
            </a:xfrm>
            <a:prstGeom prst="rect">
              <a:avLst/>
            </a:prstGeom>
            <a:noFill/>
            <a:ln>
              <a:noFill/>
            </a:ln>
          </p:spPr>
          <p:txBody>
            <a:bodyPr wrap="square" lIns="0" tIns="21908" rIns="0" bIns="0" anchor="t" anchorCtr="0">
              <a:noAutofit/>
            </a:bodyPr>
            <a:lstStyle/>
            <a:p>
              <a:pPr algn="l"/>
              <a:r>
                <a:rPr lang="en-US" sz="1650" b="1" dirty="0">
                  <a:solidFill>
                    <a:schemeClr val="dk1"/>
                  </a:solidFill>
                  <a:latin typeface="+mn-lt"/>
                  <a:ea typeface="+mn-ea"/>
                  <a:cs typeface="+mn-cs"/>
                </a:rPr>
                <a:t>Only the current holder can transfer custody</a:t>
              </a:r>
            </a:p>
          </p:txBody>
        </p:sp>
        <p:sp>
          <p:nvSpPr>
            <p:cNvPr id="59" name="Freeform 59"/>
            <p:cNvSpPr/>
            <p:nvPr/>
          </p:nvSpPr>
          <p:spPr>
            <a:xfrm>
              <a:off x="4387850" y="534670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60" name="TextBox 60"/>
            <p:cNvSpPr txBox="1"/>
            <p:nvPr/>
          </p:nvSpPr>
          <p:spPr>
            <a:xfrm>
              <a:off x="4819650" y="527685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Price and notes stay in private data</a:t>
              </a:r>
            </a:p>
          </p:txBody>
        </p:sp>
      </p:grpSp>
      <p:grpSp>
        <p:nvGrpSpPr>
          <p:cNvPr id="65" name="Group 65"/>
          <p:cNvGrpSpPr/>
          <p:nvPr/>
        </p:nvGrpSpPr>
        <p:grpSpPr>
          <a:xfrm>
            <a:off x="609600" y="5905500"/>
            <a:ext cx="10972800" cy="876300"/>
            <a:chOff x="609600" y="5905500"/>
            <a:chExt cx="10972800" cy="876300"/>
          </a:xfrm>
        </p:grpSpPr>
        <p:sp>
          <p:nvSpPr>
            <p:cNvPr id="62" name="Rectangle 62"/>
            <p:cNvSpPr/>
            <p:nvPr/>
          </p:nvSpPr>
          <p:spPr>
            <a:xfrm>
              <a:off x="609600" y="5905500"/>
              <a:ext cx="10972800" cy="514350"/>
            </a:xfrm>
            <a:prstGeom prst="rect">
              <a:avLst/>
            </a:prstGeom>
            <a:solidFill>
              <a:schemeClr val="accent1"/>
            </a:solidFill>
            <a:ln>
              <a:noFill/>
            </a:ln>
          </p:spPr>
          <p:txBody>
            <a:bodyPr/>
            <a:lstStyle/>
            <a:p>
              <a:endParaRPr lang="en-US"/>
            </a:p>
          </p:txBody>
        </p:sp>
        <p:sp>
          <p:nvSpPr>
            <p:cNvPr id="63" name="TextBox 63"/>
            <p:cNvSpPr txBox="1"/>
            <p:nvPr/>
          </p:nvSpPr>
          <p:spPr>
            <a:xfrm>
              <a:off x="838200" y="6048375"/>
              <a:ext cx="10096500" cy="266700"/>
            </a:xfrm>
            <a:prstGeom prst="rect">
              <a:avLst/>
            </a:prstGeom>
            <a:noFill/>
            <a:ln>
              <a:noFill/>
            </a:ln>
          </p:spPr>
          <p:txBody>
            <a:bodyPr wrap="square" lIns="0" tIns="41910" rIns="0" bIns="0" anchor="t" anchorCtr="0">
              <a:noAutofit/>
            </a:bodyPr>
            <a:lstStyle/>
            <a:p>
              <a:pPr algn="l"/>
              <a:r>
                <a:rPr lang="en-US" sz="1200" b="1" dirty="0">
                  <a:solidFill>
                    <a:srgbClr val="FFFFFF"/>
                  </a:solidFill>
                  <a:latin typeface="Consolas"/>
                  <a:ea typeface="Consolas"/>
                  <a:cs typeface="Consolas"/>
                </a:rPr>
                <a:t>HAND-OFF → HU RECEIVES A VALIDATED BATCH STATE FOR COMPLIANCE</a:t>
              </a:r>
            </a:p>
          </p:txBody>
        </p:sp>
        <p:sp>
          <p:nvSpPr>
            <p:cNvPr id="64" name="TextBox 64"/>
            <p:cNvSpPr txBox="1"/>
            <p:nvPr/>
          </p:nvSpPr>
          <p:spPr>
            <a:xfrm>
              <a:off x="10668000" y="65532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04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38150"/>
            <a:ext cx="10972800" cy="923925"/>
            <a:chOff x="609600" y="438150"/>
            <a:chExt cx="10972800" cy="923925"/>
          </a:xfrm>
        </p:grpSpPr>
        <p:sp>
          <p:nvSpPr>
            <p:cNvPr id="2" name="TextBox 2"/>
            <p:cNvSpPr txBox="1"/>
            <p:nvPr/>
          </p:nvSpPr>
          <p:spPr>
            <a:xfrm>
              <a:off x="609600" y="438150"/>
              <a:ext cx="4762500" cy="228600"/>
            </a:xfrm>
            <a:prstGeom prst="rect">
              <a:avLst/>
            </a:prstGeom>
            <a:noFill/>
            <a:ln>
              <a:noFill/>
            </a:ln>
          </p:spPr>
          <p:txBody>
            <a:bodyPr wrap="square" lIns="0" tIns="22860" rIns="0" bIns="0" anchor="t" anchorCtr="0">
              <a:noAutofit/>
            </a:bodyPr>
            <a:lstStyle/>
            <a:p>
              <a:pPr algn="l"/>
              <a:r>
                <a:rPr lang="en-US" sz="1200" b="1" dirty="0">
                  <a:solidFill>
                    <a:schemeClr val="accent2"/>
                  </a:solidFill>
                  <a:latin typeface="Consolas"/>
                  <a:ea typeface="Consolas"/>
                  <a:cs typeface="Consolas"/>
                </a:rPr>
                <a:t>05 / PERSON 2 · COMPLIANCE</a:t>
              </a:r>
            </a:p>
          </p:txBody>
        </p:sp>
        <p:sp>
          <p:nvSpPr>
            <p:cNvPr id="3" name="TextBox 3"/>
            <p:cNvSpPr txBox="1"/>
            <p:nvPr/>
          </p:nvSpPr>
          <p:spPr>
            <a:xfrm>
              <a:off x="609600" y="742950"/>
              <a:ext cx="10096500" cy="495300"/>
            </a:xfrm>
            <a:prstGeom prst="rect">
              <a:avLst/>
            </a:prstGeom>
            <a:noFill/>
            <a:ln>
              <a:noFill/>
            </a:ln>
          </p:spPr>
          <p:txBody>
            <a:bodyPr wrap="square" lIns="0" tIns="21908" rIns="0" bIns="0" anchor="t" anchorCtr="0">
              <a:noAutofit/>
            </a:bodyPr>
            <a:lstStyle/>
            <a:p>
              <a:pPr algn="l"/>
              <a:r>
                <a:rPr lang="en-US" sz="3150" b="1" dirty="0">
                  <a:solidFill>
                    <a:schemeClr val="dk1"/>
                  </a:solidFill>
                  <a:latin typeface="+mn-lt"/>
                  <a:ea typeface="+mn-ea"/>
                  <a:cs typeface="+mn-cs"/>
                </a:rPr>
                <a:t>Hu, Zhaoheng — coldchain-compliance</a:t>
              </a:r>
            </a:p>
          </p:txBody>
        </p:sp>
        <p:sp>
          <p:nvSpPr>
            <p:cNvPr id="4" name="Line 4"/>
            <p:cNvSpPr/>
            <p:nvPr/>
          </p:nvSpPr>
          <p:spPr>
            <a:xfrm>
              <a:off x="609600" y="1352550"/>
              <a:ext cx="10972800" cy="9525"/>
            </a:xfrm>
            <a:custGeom>
              <a:avLst/>
              <a:gdLst/>
              <a:ahLst/>
              <a:cxnLst/>
              <a:rect l="l" t="t" r="r" b="b"/>
              <a:pathLst>
                <a:path w="10972800" h="9525">
                  <a:moveTo>
                    <a:pt x="0" y="0"/>
                  </a:moveTo>
                  <a:lnTo>
                    <a:pt x="10972800" y="0"/>
                  </a:lnTo>
                </a:path>
              </a:pathLst>
            </a:custGeom>
            <a:noFill/>
            <a:ln w="19050">
              <a:solidFill>
                <a:schemeClr val="accent2"/>
              </a:solidFill>
            </a:ln>
          </p:spPr>
          <p:txBody>
            <a:bodyPr/>
            <a:lstStyle/>
            <a:p>
              <a:endParaRPr lang="en-US"/>
            </a:p>
          </p:txBody>
        </p:sp>
      </p:grpSp>
      <p:grpSp>
        <p:nvGrpSpPr>
          <p:cNvPr id="23" name="Group 23"/>
          <p:cNvGrpSpPr/>
          <p:nvPr/>
        </p:nvGrpSpPr>
        <p:grpSpPr>
          <a:xfrm>
            <a:off x="609600" y="1619250"/>
            <a:ext cx="3429000" cy="4038600"/>
            <a:chOff x="609600" y="1619250"/>
            <a:chExt cx="3429000" cy="4038600"/>
          </a:xfrm>
        </p:grpSpPr>
        <p:sp>
          <p:nvSpPr>
            <p:cNvPr id="6" name="Rectangle 6"/>
            <p:cNvSpPr/>
            <p:nvPr/>
          </p:nvSpPr>
          <p:spPr>
            <a:xfrm>
              <a:off x="609600" y="1619250"/>
              <a:ext cx="3429000" cy="4038600"/>
            </a:xfrm>
            <a:prstGeom prst="rect">
              <a:avLst/>
            </a:prstGeom>
            <a:solidFill>
              <a:schemeClr val="accent5"/>
            </a:solidFill>
            <a:ln>
              <a:noFill/>
            </a:ln>
          </p:spPr>
          <p:txBody>
            <a:bodyPr/>
            <a:lstStyle/>
            <a:p>
              <a:endParaRPr lang="en-US"/>
            </a:p>
          </p:txBody>
        </p:sp>
        <p:sp>
          <p:nvSpPr>
            <p:cNvPr id="7" name="Rectangle 7"/>
            <p:cNvSpPr/>
            <p:nvPr/>
          </p:nvSpPr>
          <p:spPr>
            <a:xfrm>
              <a:off x="609600" y="1619250"/>
              <a:ext cx="76200" cy="4038600"/>
            </a:xfrm>
            <a:prstGeom prst="rect">
              <a:avLst/>
            </a:prstGeom>
            <a:solidFill>
              <a:schemeClr val="accent2"/>
            </a:solidFill>
            <a:ln>
              <a:noFill/>
            </a:ln>
          </p:spPr>
          <p:txBody>
            <a:bodyPr/>
            <a:lstStyle/>
            <a:p>
              <a:endParaRPr lang="en-US"/>
            </a:p>
          </p:txBody>
        </p:sp>
        <p:grpSp>
          <p:nvGrpSpPr>
            <p:cNvPr id="11" name="Group 11"/>
            <p:cNvGrpSpPr/>
            <p:nvPr/>
          </p:nvGrpSpPr>
          <p:grpSpPr>
            <a:xfrm>
              <a:off x="912779" y="1936771"/>
              <a:ext cx="384228" cy="330103"/>
              <a:chOff x="912779" y="1936771"/>
              <a:chExt cx="384228" cy="330103"/>
            </a:xfrm>
          </p:grpSpPr>
          <p:sp>
            <p:nvSpPr>
              <p:cNvPr id="8" name="Freeform 8"/>
              <p:cNvSpPr/>
              <p:nvPr/>
            </p:nvSpPr>
            <p:spPr>
              <a:xfrm>
                <a:off x="1104900" y="2057400"/>
                <a:ext cx="9525" cy="76200"/>
              </a:xfrm>
              <a:custGeom>
                <a:avLst/>
                <a:gdLst/>
                <a:ahLst/>
                <a:cxnLst/>
                <a:rect l="l" t="t" r="r" b="b"/>
                <a:pathLst>
                  <a:path w="9525" h="76200">
                    <a:moveTo>
                      <a:pt x="0" y="0"/>
                    </a:moveTo>
                    <a:lnTo>
                      <a:pt x="0" y="76200"/>
                    </a:lnTo>
                  </a:path>
                </a:pathLst>
              </a:custGeom>
              <a:noFill/>
              <a:ln w="38100">
                <a:solidFill>
                  <a:schemeClr val="accent2"/>
                </a:solidFill>
              </a:ln>
            </p:spPr>
            <p:txBody>
              <a:bodyPr/>
              <a:lstStyle/>
              <a:p>
                <a:endParaRPr lang="en-US"/>
              </a:p>
            </p:txBody>
          </p:sp>
          <p:sp>
            <p:nvSpPr>
              <p:cNvPr id="9" name="Freeform 9"/>
              <p:cNvSpPr/>
              <p:nvPr/>
            </p:nvSpPr>
            <p:spPr>
              <a:xfrm>
                <a:off x="912779" y="1936771"/>
                <a:ext cx="384228" cy="330103"/>
              </a:xfrm>
              <a:custGeom>
                <a:avLst/>
                <a:gdLst/>
                <a:ahLst/>
                <a:cxnLst/>
                <a:rect l="l" t="t" r="r" b="b"/>
                <a:pathLst>
                  <a:path w="384228" h="330103">
                    <a:moveTo>
                      <a:pt x="160937" y="17587"/>
                    </a:moveTo>
                    <a:lnTo>
                      <a:pt x="6517" y="275410"/>
                    </a:lnTo>
                    <a:cubicBezTo>
                      <a:pt x="40" y="286628"/>
                      <a:pt x="0" y="300440"/>
                      <a:pt x="6413" y="311695"/>
                    </a:cubicBezTo>
                    <a:cubicBezTo>
                      <a:pt x="12827" y="322950"/>
                      <a:pt x="24730" y="329957"/>
                      <a:pt x="37683" y="330103"/>
                    </a:cubicBezTo>
                    <a:lnTo>
                      <a:pt x="346560" y="330103"/>
                    </a:lnTo>
                    <a:cubicBezTo>
                      <a:pt x="359507" y="329953"/>
                      <a:pt x="371404" y="322949"/>
                      <a:pt x="377816" y="311700"/>
                    </a:cubicBezTo>
                    <a:cubicBezTo>
                      <a:pt x="384228" y="300451"/>
                      <a:pt x="384194" y="286646"/>
                      <a:pt x="377726" y="275429"/>
                    </a:cubicBezTo>
                    <a:lnTo>
                      <a:pt x="223306" y="17568"/>
                    </a:lnTo>
                    <a:cubicBezTo>
                      <a:pt x="216699" y="6662"/>
                      <a:pt x="204873" y="0"/>
                      <a:pt x="192121" y="0"/>
                    </a:cubicBezTo>
                    <a:cubicBezTo>
                      <a:pt x="179370" y="0"/>
                      <a:pt x="167544" y="6662"/>
                      <a:pt x="160937" y="17568"/>
                    </a:cubicBezTo>
                  </a:path>
                </a:pathLst>
              </a:custGeom>
              <a:noFill/>
              <a:ln w="38100">
                <a:solidFill>
                  <a:schemeClr val="accent2"/>
                </a:solidFill>
              </a:ln>
            </p:spPr>
            <p:txBody>
              <a:bodyPr/>
              <a:lstStyle/>
              <a:p>
                <a:endParaRPr lang="en-US"/>
              </a:p>
            </p:txBody>
          </p:sp>
          <p:sp>
            <p:nvSpPr>
              <p:cNvPr id="10" name="Freeform 10"/>
              <p:cNvSpPr/>
              <p:nvPr/>
            </p:nvSpPr>
            <p:spPr>
              <a:xfrm>
                <a:off x="1104900" y="2190750"/>
                <a:ext cx="9525" cy="9525"/>
              </a:xfrm>
              <a:custGeom>
                <a:avLst/>
                <a:gdLst/>
                <a:ahLst/>
                <a:cxnLst/>
                <a:rect l="l" t="t" r="r" b="b"/>
                <a:pathLst>
                  <a:path w="9525" h="9525">
                    <a:moveTo>
                      <a:pt x="0" y="0"/>
                    </a:moveTo>
                    <a:lnTo>
                      <a:pt x="190" y="0"/>
                    </a:lnTo>
                  </a:path>
                </a:pathLst>
              </a:custGeom>
              <a:noFill/>
              <a:ln w="38100">
                <a:solidFill>
                  <a:schemeClr val="accent2"/>
                </a:solidFill>
              </a:ln>
            </p:spPr>
            <p:txBody>
              <a:bodyPr/>
              <a:lstStyle/>
              <a:p>
                <a:endParaRPr lang="en-US"/>
              </a:p>
            </p:txBody>
          </p:sp>
        </p:grpSp>
        <p:sp>
          <p:nvSpPr>
            <p:cNvPr id="12" name="TextBox 12"/>
            <p:cNvSpPr txBox="1"/>
            <p:nvPr/>
          </p:nvSpPr>
          <p:spPr>
            <a:xfrm>
              <a:off x="1524000" y="1885950"/>
              <a:ext cx="2190750" cy="228600"/>
            </a:xfrm>
            <a:prstGeom prst="rect">
              <a:avLst/>
            </a:prstGeom>
            <a:noFill/>
            <a:ln>
              <a:noFill/>
            </a:ln>
          </p:spPr>
          <p:txBody>
            <a:bodyPr wrap="square" lIns="0" tIns="41910" rIns="0" bIns="0" anchor="t" anchorCtr="0">
              <a:noAutofit/>
            </a:bodyPr>
            <a:lstStyle/>
            <a:p>
              <a:pPr algn="l"/>
              <a:r>
                <a:rPr lang="en-US" sz="1200" b="1" dirty="0">
                  <a:solidFill>
                    <a:schemeClr val="accent2"/>
                  </a:solidFill>
                  <a:latin typeface="Consolas"/>
                  <a:ea typeface="Consolas"/>
                  <a:cs typeface="Consolas"/>
                </a:rPr>
                <a:t>OWNS</a:t>
              </a:r>
            </a:p>
          </p:txBody>
        </p:sp>
        <p:sp>
          <p:nvSpPr>
            <p:cNvPr id="13" name="TextBox 13"/>
            <p:cNvSpPr txBox="1"/>
            <p:nvPr/>
          </p:nvSpPr>
          <p:spPr>
            <a:xfrm>
              <a:off x="1524000" y="2152650"/>
              <a:ext cx="2190750" cy="285750"/>
            </a:xfrm>
            <a:prstGeom prst="rect">
              <a:avLst/>
            </a:prstGeom>
            <a:noFill/>
            <a:ln>
              <a:noFill/>
            </a:ln>
          </p:spPr>
          <p:txBody>
            <a:bodyPr wrap="square" lIns="0" tIns="31433" rIns="0" bIns="0" anchor="t" anchorCtr="0">
              <a:noAutofit/>
            </a:bodyPr>
            <a:lstStyle/>
            <a:p>
              <a:pPr algn="l"/>
              <a:r>
                <a:rPr lang="en-US" sz="1650" b="1" dirty="0">
                  <a:solidFill>
                    <a:schemeClr val="accent1"/>
                  </a:solidFill>
                  <a:latin typeface="+mn-lt"/>
                  <a:ea typeface="+mn-ea"/>
                  <a:cs typeface="+mn-cs"/>
                </a:rPr>
                <a:t>compliance + recall</a:t>
              </a:r>
            </a:p>
          </p:txBody>
        </p:sp>
        <p:sp>
          <p:nvSpPr>
            <p:cNvPr id="14" name="Line 14"/>
            <p:cNvSpPr/>
            <p:nvPr/>
          </p:nvSpPr>
          <p:spPr>
            <a:xfrm>
              <a:off x="876300" y="262890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15" name="TextBox 15"/>
            <p:cNvSpPr txBox="1"/>
            <p:nvPr/>
          </p:nvSpPr>
          <p:spPr>
            <a:xfrm>
              <a:off x="876300" y="278130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2"/>
                  </a:solidFill>
                  <a:latin typeface="Consolas"/>
                  <a:ea typeface="Consolas"/>
                  <a:cs typeface="Consolas"/>
                </a:rPr>
                <a:t>KEY FILE</a:t>
              </a:r>
            </a:p>
          </p:txBody>
        </p:sp>
        <p:sp>
          <p:nvSpPr>
            <p:cNvPr id="16" name="TextBox 16"/>
            <p:cNvSpPr txBox="1"/>
            <p:nvPr/>
          </p:nvSpPr>
          <p:spPr>
            <a:xfrm>
              <a:off x="876300" y="3143250"/>
              <a:ext cx="2762250" cy="266700"/>
            </a:xfrm>
            <a:prstGeom prst="rect">
              <a:avLst/>
            </a:prstGeom>
            <a:noFill/>
            <a:ln>
              <a:noFill/>
            </a:ln>
          </p:spPr>
          <p:txBody>
            <a:bodyPr wrap="square" lIns="0" tIns="44767" rIns="0" bIns="0" anchor="t" anchorCtr="0">
              <a:noAutofit/>
            </a:bodyPr>
            <a:lstStyle/>
            <a:p>
              <a:pPr algn="l"/>
              <a:r>
                <a:rPr lang="en-US" sz="1350" dirty="0">
                  <a:solidFill>
                    <a:schemeClr val="dk1"/>
                  </a:solidFill>
                  <a:latin typeface="Consolas"/>
                  <a:ea typeface="Consolas"/>
                  <a:cs typeface="Consolas"/>
                </a:rPr>
                <a:t>compliance.ts</a:t>
              </a:r>
            </a:p>
          </p:txBody>
        </p:sp>
        <p:sp>
          <p:nvSpPr>
            <p:cNvPr id="17" name="Line 17"/>
            <p:cNvSpPr/>
            <p:nvPr/>
          </p:nvSpPr>
          <p:spPr>
            <a:xfrm>
              <a:off x="876300" y="363855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18" name="TextBox 18"/>
            <p:cNvSpPr txBox="1"/>
            <p:nvPr/>
          </p:nvSpPr>
          <p:spPr>
            <a:xfrm>
              <a:off x="876300" y="379095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2"/>
                  </a:solidFill>
                  <a:latin typeface="Consolas"/>
                  <a:ea typeface="Consolas"/>
                  <a:cs typeface="Consolas"/>
                </a:rPr>
                <a:t>CORE LOGIC</a:t>
              </a:r>
            </a:p>
          </p:txBody>
        </p:sp>
        <p:sp>
          <p:nvSpPr>
            <p:cNvPr id="19" name="TextBox 19"/>
            <p:cNvSpPr txBox="1"/>
            <p:nvPr/>
          </p:nvSpPr>
          <p:spPr>
            <a:xfrm>
              <a:off x="876300" y="413385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Consecutive breach counter</a:t>
              </a:r>
            </a:p>
          </p:txBody>
        </p:sp>
        <p:sp>
          <p:nvSpPr>
            <p:cNvPr id="20" name="TextBox 20"/>
            <p:cNvSpPr txBox="1"/>
            <p:nvPr/>
          </p:nvSpPr>
          <p:spPr>
            <a:xfrm>
              <a:off x="876300" y="443865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Cross-chaincode FlagBatch</a:t>
              </a:r>
            </a:p>
          </p:txBody>
        </p:sp>
        <p:sp>
          <p:nvSpPr>
            <p:cNvPr id="21" name="TextBox 21"/>
            <p:cNvSpPr txBox="1"/>
            <p:nvPr/>
          </p:nvSpPr>
          <p:spPr>
            <a:xfrm>
              <a:off x="876300" y="474345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BFS recall + visited set</a:t>
              </a:r>
            </a:p>
          </p:txBody>
        </p:sp>
        <p:sp>
          <p:nvSpPr>
            <p:cNvPr id="22" name="TextBox 22"/>
            <p:cNvSpPr txBox="1"/>
            <p:nvPr/>
          </p:nvSpPr>
          <p:spPr>
            <a:xfrm>
              <a:off x="876300" y="5105400"/>
              <a:ext cx="2781300" cy="285750"/>
            </a:xfrm>
            <a:prstGeom prst="rect">
              <a:avLst/>
            </a:prstGeom>
            <a:noFill/>
            <a:ln>
              <a:noFill/>
            </a:ln>
          </p:spPr>
          <p:txBody>
            <a:bodyPr wrap="square" lIns="0" tIns="31432" rIns="0" bIns="0" anchor="t" anchorCtr="0">
              <a:noAutofit/>
            </a:bodyPr>
            <a:lstStyle/>
            <a:p>
              <a:pPr algn="l"/>
              <a:r>
                <a:rPr lang="en-US" sz="1650" b="1" dirty="0">
                  <a:solidFill>
                    <a:schemeClr val="accent2"/>
                  </a:solidFill>
                  <a:latin typeface="+mn-lt"/>
                  <a:ea typeface="+mn-ea"/>
                  <a:cs typeface="+mn-cs"/>
                </a:rPr>
                <a:t>AUTO FLAG · RECALL TREE</a:t>
              </a:r>
            </a:p>
          </p:txBody>
        </p:sp>
      </p:grpSp>
      <p:grpSp>
        <p:nvGrpSpPr>
          <p:cNvPr id="54" name="Group 54"/>
          <p:cNvGrpSpPr/>
          <p:nvPr/>
        </p:nvGrpSpPr>
        <p:grpSpPr>
          <a:xfrm>
            <a:off x="4324350" y="1657350"/>
            <a:ext cx="7258050" cy="2019300"/>
            <a:chOff x="4324350" y="1657350"/>
            <a:chExt cx="7258050" cy="2019300"/>
          </a:xfrm>
        </p:grpSpPr>
        <p:sp>
          <p:nvSpPr>
            <p:cNvPr id="24" name="TextBox 24"/>
            <p:cNvSpPr txBox="1"/>
            <p:nvPr/>
          </p:nvSpPr>
          <p:spPr>
            <a:xfrm>
              <a:off x="4324350" y="1657350"/>
              <a:ext cx="3810000" cy="228600"/>
            </a:xfrm>
            <a:prstGeom prst="rect">
              <a:avLst/>
            </a:prstGeom>
            <a:noFill/>
            <a:ln>
              <a:noFill/>
            </a:ln>
          </p:spPr>
          <p:txBody>
            <a:bodyPr wrap="square" lIns="0" tIns="22860" rIns="0" bIns="0" anchor="t" anchorCtr="0">
              <a:noAutofit/>
            </a:bodyPr>
            <a:lstStyle/>
            <a:p>
              <a:pPr algn="l"/>
              <a:r>
                <a:rPr lang="en-US" sz="1200" b="1" dirty="0">
                  <a:solidFill>
                    <a:schemeClr val="accent2"/>
                  </a:solidFill>
                  <a:latin typeface="Consolas"/>
                  <a:ea typeface="Consolas"/>
                  <a:cs typeface="Consolas"/>
                </a:rPr>
                <a:t>BREACH ENFORCEMENT</a:t>
              </a:r>
            </a:p>
          </p:txBody>
        </p:sp>
        <p:sp>
          <p:nvSpPr>
            <p:cNvPr id="25" name="Rectangle 25"/>
            <p:cNvSpPr/>
            <p:nvPr/>
          </p:nvSpPr>
          <p:spPr>
            <a:xfrm>
              <a:off x="4324350" y="2076450"/>
              <a:ext cx="1619250" cy="514350"/>
            </a:xfrm>
            <a:prstGeom prst="rect">
              <a:avLst/>
            </a:prstGeom>
            <a:solidFill>
              <a:schemeClr val="accent5"/>
            </a:solidFill>
            <a:ln w="19050">
              <a:solidFill>
                <a:schemeClr val="accent2"/>
              </a:solidFill>
            </a:ln>
          </p:spPr>
          <p:txBody>
            <a:bodyPr/>
            <a:lstStyle/>
            <a:p>
              <a:endParaRPr lang="en-US"/>
            </a:p>
          </p:txBody>
        </p:sp>
        <p:sp>
          <p:nvSpPr>
            <p:cNvPr id="26" name="TextBox 26"/>
            <p:cNvSpPr txBox="1"/>
            <p:nvPr/>
          </p:nvSpPr>
          <p:spPr>
            <a:xfrm>
              <a:off x="4324350" y="2190750"/>
              <a:ext cx="16192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summary</a:t>
              </a:r>
            </a:p>
          </p:txBody>
        </p:sp>
        <p:sp>
          <p:nvSpPr>
            <p:cNvPr id="27" name="Line 27"/>
            <p:cNvSpPr/>
            <p:nvPr/>
          </p:nvSpPr>
          <p:spPr>
            <a:xfrm>
              <a:off x="5943600" y="2333625"/>
              <a:ext cx="323850" cy="9525"/>
            </a:xfrm>
            <a:custGeom>
              <a:avLst/>
              <a:gdLst/>
              <a:ahLst/>
              <a:cxnLst/>
              <a:rect l="l" t="t" r="r" b="b"/>
              <a:pathLst>
                <a:path w="323850" h="9525">
                  <a:moveTo>
                    <a:pt x="0" y="0"/>
                  </a:moveTo>
                  <a:lnTo>
                    <a:pt x="323850" y="0"/>
                  </a:lnTo>
                </a:path>
              </a:pathLst>
            </a:custGeom>
            <a:noFill/>
            <a:ln w="28575">
              <a:solidFill>
                <a:schemeClr val="accent2"/>
              </a:solidFill>
            </a:ln>
          </p:spPr>
          <p:txBody>
            <a:bodyPr/>
            <a:lstStyle/>
            <a:p>
              <a:endParaRPr lang="en-US"/>
            </a:p>
          </p:txBody>
        </p:sp>
        <p:sp>
          <p:nvSpPr>
            <p:cNvPr id="28" name="Polygon 28"/>
            <p:cNvSpPr/>
            <p:nvPr/>
          </p:nvSpPr>
          <p:spPr>
            <a:xfrm>
              <a:off x="6153150" y="2266950"/>
              <a:ext cx="114300" cy="133350"/>
            </a:xfrm>
            <a:custGeom>
              <a:avLst/>
              <a:gdLst/>
              <a:ahLst/>
              <a:cxnLst/>
              <a:rect l="l" t="t" r="r" b="b"/>
              <a:pathLst>
                <a:path w="114300" h="133350">
                  <a:moveTo>
                    <a:pt x="114300" y="66675"/>
                  </a:moveTo>
                  <a:lnTo>
                    <a:pt x="0" y="0"/>
                  </a:lnTo>
                  <a:lnTo>
                    <a:pt x="0" y="133350"/>
                  </a:lnTo>
                  <a:close/>
                </a:path>
              </a:pathLst>
            </a:custGeom>
            <a:solidFill>
              <a:schemeClr val="accent2"/>
            </a:solidFill>
            <a:ln>
              <a:noFill/>
            </a:ln>
          </p:spPr>
          <p:txBody>
            <a:bodyPr/>
            <a:lstStyle/>
            <a:p>
              <a:endParaRPr lang="en-US"/>
            </a:p>
          </p:txBody>
        </p:sp>
        <p:sp>
          <p:nvSpPr>
            <p:cNvPr id="29" name="Rectangle 29"/>
            <p:cNvSpPr/>
            <p:nvPr/>
          </p:nvSpPr>
          <p:spPr>
            <a:xfrm>
              <a:off x="6267450" y="2076450"/>
              <a:ext cx="1428750" cy="514350"/>
            </a:xfrm>
            <a:prstGeom prst="rect">
              <a:avLst/>
            </a:prstGeom>
            <a:solidFill>
              <a:schemeClr val="accent5"/>
            </a:solidFill>
            <a:ln w="19050">
              <a:solidFill>
                <a:schemeClr val="accent2"/>
              </a:solidFill>
            </a:ln>
          </p:spPr>
          <p:txBody>
            <a:bodyPr/>
            <a:lstStyle/>
            <a:p>
              <a:endParaRPr lang="en-US"/>
            </a:p>
          </p:txBody>
        </p:sp>
        <p:sp>
          <p:nvSpPr>
            <p:cNvPr id="30" name="TextBox 30"/>
            <p:cNvSpPr txBox="1"/>
            <p:nvPr/>
          </p:nvSpPr>
          <p:spPr>
            <a:xfrm>
              <a:off x="6267450" y="2190750"/>
              <a:ext cx="1428750" cy="266700"/>
            </a:xfrm>
            <a:prstGeom prst="rect">
              <a:avLst/>
            </a:prstGeom>
            <a:noFill/>
            <a:ln>
              <a:noFill/>
            </a:ln>
          </p:spPr>
          <p:txBody>
            <a:bodyPr wrap="square" lIns="0" tIns="70485" rIns="0" bIns="0" anchor="t" anchorCtr="0">
              <a:noAutofit/>
            </a:bodyPr>
            <a:lstStyle/>
            <a:p>
              <a:pPr algn="ctr"/>
              <a:r>
                <a:rPr lang="en-US" sz="1200" b="1" dirty="0">
                  <a:solidFill>
                    <a:schemeClr val="accent1"/>
                  </a:solidFill>
                  <a:latin typeface="Consolas"/>
                  <a:ea typeface="Consolas"/>
                  <a:cs typeface="Consolas"/>
                </a:rPr>
                <a:t>count + 1</a:t>
              </a:r>
            </a:p>
          </p:txBody>
        </p:sp>
        <p:sp>
          <p:nvSpPr>
            <p:cNvPr id="31" name="Line 31"/>
            <p:cNvSpPr/>
            <p:nvPr/>
          </p:nvSpPr>
          <p:spPr>
            <a:xfrm>
              <a:off x="7696200" y="2333625"/>
              <a:ext cx="323850" cy="9525"/>
            </a:xfrm>
            <a:custGeom>
              <a:avLst/>
              <a:gdLst/>
              <a:ahLst/>
              <a:cxnLst/>
              <a:rect l="l" t="t" r="r" b="b"/>
              <a:pathLst>
                <a:path w="323850" h="9525">
                  <a:moveTo>
                    <a:pt x="0" y="0"/>
                  </a:moveTo>
                  <a:lnTo>
                    <a:pt x="323850" y="0"/>
                  </a:lnTo>
                </a:path>
              </a:pathLst>
            </a:custGeom>
            <a:noFill/>
            <a:ln w="28575">
              <a:solidFill>
                <a:schemeClr val="accent2"/>
              </a:solidFill>
            </a:ln>
          </p:spPr>
          <p:txBody>
            <a:bodyPr/>
            <a:lstStyle/>
            <a:p>
              <a:endParaRPr lang="en-US"/>
            </a:p>
          </p:txBody>
        </p:sp>
        <p:sp>
          <p:nvSpPr>
            <p:cNvPr id="32" name="Polygon 32"/>
            <p:cNvSpPr/>
            <p:nvPr/>
          </p:nvSpPr>
          <p:spPr>
            <a:xfrm>
              <a:off x="7905750" y="2266950"/>
              <a:ext cx="114300" cy="133350"/>
            </a:xfrm>
            <a:custGeom>
              <a:avLst/>
              <a:gdLst/>
              <a:ahLst/>
              <a:cxnLst/>
              <a:rect l="l" t="t" r="r" b="b"/>
              <a:pathLst>
                <a:path w="114300" h="133350">
                  <a:moveTo>
                    <a:pt x="114300" y="66675"/>
                  </a:moveTo>
                  <a:lnTo>
                    <a:pt x="0" y="0"/>
                  </a:lnTo>
                  <a:lnTo>
                    <a:pt x="0" y="133350"/>
                  </a:lnTo>
                  <a:close/>
                </a:path>
              </a:pathLst>
            </a:custGeom>
            <a:solidFill>
              <a:schemeClr val="accent2"/>
            </a:solidFill>
            <a:ln>
              <a:noFill/>
            </a:ln>
          </p:spPr>
          <p:txBody>
            <a:bodyPr/>
            <a:lstStyle/>
            <a:p>
              <a:endParaRPr lang="en-US"/>
            </a:p>
          </p:txBody>
        </p:sp>
        <p:sp>
          <p:nvSpPr>
            <p:cNvPr id="33" name="Rectangle 33"/>
            <p:cNvSpPr/>
            <p:nvPr/>
          </p:nvSpPr>
          <p:spPr>
            <a:xfrm>
              <a:off x="8020050" y="2076450"/>
              <a:ext cx="1581150" cy="514350"/>
            </a:xfrm>
            <a:prstGeom prst="rect">
              <a:avLst/>
            </a:prstGeom>
            <a:solidFill>
              <a:schemeClr val="accent2"/>
            </a:solidFill>
            <a:ln>
              <a:noFill/>
            </a:ln>
          </p:spPr>
          <p:txBody>
            <a:bodyPr/>
            <a:lstStyle/>
            <a:p>
              <a:endParaRPr lang="en-US"/>
            </a:p>
          </p:txBody>
        </p:sp>
        <p:sp>
          <p:nvSpPr>
            <p:cNvPr id="34" name="TextBox 34"/>
            <p:cNvSpPr txBox="1"/>
            <p:nvPr/>
          </p:nvSpPr>
          <p:spPr>
            <a:xfrm>
              <a:off x="8020050" y="2190750"/>
              <a:ext cx="1581150" cy="266700"/>
            </a:xfrm>
            <a:prstGeom prst="rect">
              <a:avLst/>
            </a:prstGeom>
            <a:noFill/>
            <a:ln>
              <a:noFill/>
            </a:ln>
          </p:spPr>
          <p:txBody>
            <a:bodyPr wrap="square" lIns="0" tIns="70485" rIns="0" bIns="0" anchor="t" anchorCtr="0">
              <a:noAutofit/>
            </a:bodyPr>
            <a:lstStyle/>
            <a:p>
              <a:pPr algn="ctr"/>
              <a:r>
                <a:rPr lang="en-US" sz="1200" b="1" dirty="0">
                  <a:solidFill>
                    <a:srgbClr val="FFFFFF"/>
                  </a:solidFill>
                  <a:latin typeface="Consolas"/>
                  <a:ea typeface="Consolas"/>
                  <a:cs typeface="Consolas"/>
                </a:rPr>
                <a:t>count ≥ 3</a:t>
              </a:r>
            </a:p>
          </p:txBody>
        </p:sp>
        <p:sp>
          <p:nvSpPr>
            <p:cNvPr id="35" name="Line 35"/>
            <p:cNvSpPr/>
            <p:nvPr/>
          </p:nvSpPr>
          <p:spPr>
            <a:xfrm>
              <a:off x="9601200" y="2333625"/>
              <a:ext cx="323850" cy="9525"/>
            </a:xfrm>
            <a:custGeom>
              <a:avLst/>
              <a:gdLst/>
              <a:ahLst/>
              <a:cxnLst/>
              <a:rect l="l" t="t" r="r" b="b"/>
              <a:pathLst>
                <a:path w="323850" h="9525">
                  <a:moveTo>
                    <a:pt x="0" y="0"/>
                  </a:moveTo>
                  <a:lnTo>
                    <a:pt x="323850" y="0"/>
                  </a:lnTo>
                </a:path>
              </a:pathLst>
            </a:custGeom>
            <a:noFill/>
            <a:ln w="28575">
              <a:solidFill>
                <a:schemeClr val="accent2"/>
              </a:solidFill>
            </a:ln>
          </p:spPr>
          <p:txBody>
            <a:bodyPr/>
            <a:lstStyle/>
            <a:p>
              <a:endParaRPr lang="en-US"/>
            </a:p>
          </p:txBody>
        </p:sp>
        <p:sp>
          <p:nvSpPr>
            <p:cNvPr id="36" name="Polygon 36"/>
            <p:cNvSpPr/>
            <p:nvPr/>
          </p:nvSpPr>
          <p:spPr>
            <a:xfrm>
              <a:off x="9810750" y="2266950"/>
              <a:ext cx="114300" cy="133350"/>
            </a:xfrm>
            <a:custGeom>
              <a:avLst/>
              <a:gdLst/>
              <a:ahLst/>
              <a:cxnLst/>
              <a:rect l="l" t="t" r="r" b="b"/>
              <a:pathLst>
                <a:path w="114300" h="133350">
                  <a:moveTo>
                    <a:pt x="114300" y="66675"/>
                  </a:moveTo>
                  <a:lnTo>
                    <a:pt x="0" y="0"/>
                  </a:lnTo>
                  <a:lnTo>
                    <a:pt x="0" y="133350"/>
                  </a:lnTo>
                  <a:close/>
                </a:path>
              </a:pathLst>
            </a:custGeom>
            <a:solidFill>
              <a:schemeClr val="accent2"/>
            </a:solidFill>
            <a:ln>
              <a:noFill/>
            </a:ln>
          </p:spPr>
          <p:txBody>
            <a:bodyPr/>
            <a:lstStyle/>
            <a:p>
              <a:endParaRPr lang="en-US"/>
            </a:p>
          </p:txBody>
        </p:sp>
        <p:sp>
          <p:nvSpPr>
            <p:cNvPr id="37" name="Rectangle 37"/>
            <p:cNvSpPr/>
            <p:nvPr/>
          </p:nvSpPr>
          <p:spPr>
            <a:xfrm>
              <a:off x="9925050" y="2076450"/>
              <a:ext cx="1657350" cy="514350"/>
            </a:xfrm>
            <a:prstGeom prst="rect">
              <a:avLst/>
            </a:prstGeom>
            <a:solidFill>
              <a:schemeClr val="accent1"/>
            </a:solidFill>
            <a:ln>
              <a:noFill/>
            </a:ln>
          </p:spPr>
          <p:txBody>
            <a:bodyPr/>
            <a:lstStyle/>
            <a:p>
              <a:endParaRPr lang="en-US"/>
            </a:p>
          </p:txBody>
        </p:sp>
        <p:sp>
          <p:nvSpPr>
            <p:cNvPr id="38" name="TextBox 38"/>
            <p:cNvSpPr txBox="1"/>
            <p:nvPr/>
          </p:nvSpPr>
          <p:spPr>
            <a:xfrm>
              <a:off x="9925050" y="2190750"/>
              <a:ext cx="1657350" cy="266700"/>
            </a:xfrm>
            <a:prstGeom prst="rect">
              <a:avLst/>
            </a:prstGeom>
            <a:noFill/>
            <a:ln>
              <a:noFill/>
            </a:ln>
          </p:spPr>
          <p:txBody>
            <a:bodyPr wrap="square" lIns="0" tIns="70485" rIns="0" bIns="0" anchor="t" anchorCtr="0">
              <a:noAutofit/>
            </a:bodyPr>
            <a:lstStyle/>
            <a:p>
              <a:pPr algn="ctr"/>
              <a:r>
                <a:rPr lang="en-US" sz="1200" b="1" dirty="0">
                  <a:solidFill>
                    <a:srgbClr val="FFFFFF"/>
                  </a:solidFill>
                  <a:latin typeface="Consolas"/>
                  <a:ea typeface="Consolas"/>
                  <a:cs typeface="Consolas"/>
                </a:rPr>
                <a:t>FlagBatch()</a:t>
              </a:r>
            </a:p>
          </p:txBody>
        </p:sp>
        <p:sp>
          <p:nvSpPr>
            <p:cNvPr id="39" name="TextBox 39"/>
            <p:cNvSpPr txBox="1"/>
            <p:nvPr/>
          </p:nvSpPr>
          <p:spPr>
            <a:xfrm>
              <a:off x="4324350" y="2838450"/>
              <a:ext cx="3810000" cy="228600"/>
            </a:xfrm>
            <a:prstGeom prst="rect">
              <a:avLst/>
            </a:prstGeom>
            <a:noFill/>
            <a:ln>
              <a:noFill/>
            </a:ln>
          </p:spPr>
          <p:txBody>
            <a:bodyPr wrap="square" lIns="0" tIns="41910" rIns="0" bIns="0" anchor="t" anchorCtr="0">
              <a:noAutofit/>
            </a:bodyPr>
            <a:lstStyle/>
            <a:p>
              <a:pPr algn="l"/>
              <a:r>
                <a:rPr lang="en-US" sz="1200" b="1" dirty="0">
                  <a:solidFill>
                    <a:schemeClr val="accent2"/>
                  </a:solidFill>
                  <a:latin typeface="Consolas"/>
                  <a:ea typeface="Consolas"/>
                  <a:cs typeface="Consolas"/>
                </a:rPr>
                <a:t>CYCLE-SAFE RECALL</a:t>
              </a:r>
            </a:p>
          </p:txBody>
        </p:sp>
        <p:sp>
          <p:nvSpPr>
            <p:cNvPr id="40" name="Rectangle 40"/>
            <p:cNvSpPr/>
            <p:nvPr/>
          </p:nvSpPr>
          <p:spPr>
            <a:xfrm>
              <a:off x="4324350" y="3162300"/>
              <a:ext cx="1619250" cy="514350"/>
            </a:xfrm>
            <a:prstGeom prst="rect">
              <a:avLst/>
            </a:prstGeom>
            <a:solidFill>
              <a:schemeClr val="accent5"/>
            </a:solidFill>
            <a:ln w="19050">
              <a:solidFill>
                <a:schemeClr val="accent1"/>
              </a:solidFill>
            </a:ln>
          </p:spPr>
          <p:txBody>
            <a:bodyPr/>
            <a:lstStyle/>
            <a:p>
              <a:endParaRPr lang="en-US"/>
            </a:p>
          </p:txBody>
        </p:sp>
        <p:sp>
          <p:nvSpPr>
            <p:cNvPr id="41" name="TextBox 41"/>
            <p:cNvSpPr txBox="1"/>
            <p:nvPr/>
          </p:nvSpPr>
          <p:spPr>
            <a:xfrm>
              <a:off x="4324350" y="3276600"/>
              <a:ext cx="16192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root batch</a:t>
              </a:r>
            </a:p>
          </p:txBody>
        </p:sp>
        <p:sp>
          <p:nvSpPr>
            <p:cNvPr id="42" name="Line 42"/>
            <p:cNvSpPr/>
            <p:nvPr/>
          </p:nvSpPr>
          <p:spPr>
            <a:xfrm>
              <a:off x="59436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3" name="Polygon 43"/>
            <p:cNvSpPr/>
            <p:nvPr/>
          </p:nvSpPr>
          <p:spPr>
            <a:xfrm>
              <a:off x="61531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4" name="Rectangle 44"/>
            <p:cNvSpPr/>
            <p:nvPr/>
          </p:nvSpPr>
          <p:spPr>
            <a:xfrm>
              <a:off x="6267450" y="3162300"/>
              <a:ext cx="1428750" cy="514350"/>
            </a:xfrm>
            <a:prstGeom prst="rect">
              <a:avLst/>
            </a:prstGeom>
            <a:solidFill>
              <a:schemeClr val="accent5"/>
            </a:solidFill>
            <a:ln w="19050">
              <a:solidFill>
                <a:schemeClr val="accent1"/>
              </a:solidFill>
            </a:ln>
          </p:spPr>
          <p:txBody>
            <a:bodyPr/>
            <a:lstStyle/>
            <a:p>
              <a:endParaRPr lang="en-US"/>
            </a:p>
          </p:txBody>
        </p:sp>
        <p:sp>
          <p:nvSpPr>
            <p:cNvPr id="45" name="TextBox 45"/>
            <p:cNvSpPr txBox="1"/>
            <p:nvPr/>
          </p:nvSpPr>
          <p:spPr>
            <a:xfrm>
              <a:off x="6267450" y="3276600"/>
              <a:ext cx="14287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queue</a:t>
              </a:r>
            </a:p>
          </p:txBody>
        </p:sp>
        <p:sp>
          <p:nvSpPr>
            <p:cNvPr id="46" name="Line 46"/>
            <p:cNvSpPr/>
            <p:nvPr/>
          </p:nvSpPr>
          <p:spPr>
            <a:xfrm>
              <a:off x="76962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7" name="Polygon 47"/>
            <p:cNvSpPr/>
            <p:nvPr/>
          </p:nvSpPr>
          <p:spPr>
            <a:xfrm>
              <a:off x="79057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8" name="Rectangle 48"/>
            <p:cNvSpPr/>
            <p:nvPr/>
          </p:nvSpPr>
          <p:spPr>
            <a:xfrm>
              <a:off x="8020050" y="3162300"/>
              <a:ext cx="1581150" cy="514350"/>
            </a:xfrm>
            <a:prstGeom prst="rect">
              <a:avLst/>
            </a:prstGeom>
            <a:solidFill>
              <a:schemeClr val="accent5"/>
            </a:solidFill>
            <a:ln w="19050">
              <a:solidFill>
                <a:schemeClr val="accent1"/>
              </a:solidFill>
            </a:ln>
          </p:spPr>
          <p:txBody>
            <a:bodyPr/>
            <a:lstStyle/>
            <a:p>
              <a:endParaRPr lang="en-US"/>
            </a:p>
          </p:txBody>
        </p:sp>
        <p:sp>
          <p:nvSpPr>
            <p:cNvPr id="49" name="TextBox 49"/>
            <p:cNvSpPr txBox="1"/>
            <p:nvPr/>
          </p:nvSpPr>
          <p:spPr>
            <a:xfrm>
              <a:off x="8020050" y="3276600"/>
              <a:ext cx="15811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visited set</a:t>
              </a:r>
            </a:p>
          </p:txBody>
        </p:sp>
        <p:sp>
          <p:nvSpPr>
            <p:cNvPr id="50" name="Line 50"/>
            <p:cNvSpPr/>
            <p:nvPr/>
          </p:nvSpPr>
          <p:spPr>
            <a:xfrm>
              <a:off x="96012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51" name="Polygon 51"/>
            <p:cNvSpPr/>
            <p:nvPr/>
          </p:nvSpPr>
          <p:spPr>
            <a:xfrm>
              <a:off x="98107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52" name="Rectangle 52"/>
            <p:cNvSpPr/>
            <p:nvPr/>
          </p:nvSpPr>
          <p:spPr>
            <a:xfrm>
              <a:off x="9925050" y="3162300"/>
              <a:ext cx="1657350" cy="514350"/>
            </a:xfrm>
            <a:prstGeom prst="rect">
              <a:avLst/>
            </a:prstGeom>
            <a:solidFill>
              <a:schemeClr val="accent3"/>
            </a:solidFill>
            <a:ln>
              <a:noFill/>
            </a:ln>
          </p:spPr>
          <p:txBody>
            <a:bodyPr/>
            <a:lstStyle/>
            <a:p>
              <a:endParaRPr lang="en-US"/>
            </a:p>
          </p:txBody>
        </p:sp>
        <p:sp>
          <p:nvSpPr>
            <p:cNvPr id="53" name="TextBox 53"/>
            <p:cNvSpPr txBox="1"/>
            <p:nvPr/>
          </p:nvSpPr>
          <p:spPr>
            <a:xfrm>
              <a:off x="9925050" y="327660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descendants</a:t>
              </a:r>
            </a:p>
          </p:txBody>
        </p:sp>
      </p:grpSp>
      <p:grpSp>
        <p:nvGrpSpPr>
          <p:cNvPr id="62" name="Group 62"/>
          <p:cNvGrpSpPr/>
          <p:nvPr/>
        </p:nvGrpSpPr>
        <p:grpSpPr>
          <a:xfrm>
            <a:off x="4324350" y="4000500"/>
            <a:ext cx="6972300" cy="1733550"/>
            <a:chOff x="4324350" y="4000500"/>
            <a:chExt cx="6972300" cy="1733550"/>
          </a:xfrm>
        </p:grpSpPr>
        <p:sp>
          <p:nvSpPr>
            <p:cNvPr id="55" name="TextBox 55"/>
            <p:cNvSpPr txBox="1"/>
            <p:nvPr/>
          </p:nvSpPr>
          <p:spPr>
            <a:xfrm>
              <a:off x="4324350" y="4000500"/>
              <a:ext cx="4095750" cy="228600"/>
            </a:xfrm>
            <a:prstGeom prst="rect">
              <a:avLst/>
            </a:prstGeom>
            <a:noFill/>
            <a:ln>
              <a:noFill/>
            </a:ln>
          </p:spPr>
          <p:txBody>
            <a:bodyPr wrap="square" lIns="0" tIns="22860" rIns="0" bIns="0" anchor="t" anchorCtr="0">
              <a:noAutofit/>
            </a:bodyPr>
            <a:lstStyle/>
            <a:p>
              <a:pPr algn="l"/>
              <a:r>
                <a:rPr lang="en-US" sz="1200" b="1" dirty="0">
                  <a:solidFill>
                    <a:schemeClr val="accent2"/>
                  </a:solidFill>
                  <a:latin typeface="Consolas"/>
                  <a:ea typeface="Consolas"/>
                  <a:cs typeface="Consolas"/>
                </a:rPr>
                <a:t>WHAT THE CODE GUARANTEES</a:t>
              </a:r>
            </a:p>
          </p:txBody>
        </p:sp>
        <p:sp>
          <p:nvSpPr>
            <p:cNvPr id="56" name="Freeform 56"/>
            <p:cNvSpPr/>
            <p:nvPr/>
          </p:nvSpPr>
          <p:spPr>
            <a:xfrm>
              <a:off x="4387850" y="45275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7" name="TextBox 57"/>
            <p:cNvSpPr txBox="1"/>
            <p:nvPr/>
          </p:nvSpPr>
          <p:spPr>
            <a:xfrm>
              <a:off x="4819650" y="4457700"/>
              <a:ext cx="6477000" cy="285750"/>
            </a:xfrm>
            <a:prstGeom prst="rect">
              <a:avLst/>
            </a:prstGeom>
            <a:noFill/>
            <a:ln>
              <a:noFill/>
            </a:ln>
          </p:spPr>
          <p:txBody>
            <a:bodyPr wrap="square" lIns="0" tIns="21908" rIns="0" bIns="0" anchor="t" anchorCtr="0">
              <a:noAutofit/>
            </a:bodyPr>
            <a:lstStyle/>
            <a:p>
              <a:pPr algn="l"/>
              <a:r>
                <a:rPr lang="en-US" sz="1650" b="1" dirty="0">
                  <a:solidFill>
                    <a:schemeClr val="dk1"/>
                  </a:solidFill>
                  <a:latin typeface="+mn-lt"/>
                  <a:ea typeface="+mn-ea"/>
                  <a:cs typeface="+mn-cs"/>
                </a:rPr>
                <a:t>The third breach flags the batch automatically</a:t>
              </a:r>
            </a:p>
          </p:txBody>
        </p:sp>
        <p:sp>
          <p:nvSpPr>
            <p:cNvPr id="58" name="Freeform 58"/>
            <p:cNvSpPr/>
            <p:nvPr/>
          </p:nvSpPr>
          <p:spPr>
            <a:xfrm>
              <a:off x="4387850" y="50228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9" name="TextBox 59"/>
            <p:cNvSpPr txBox="1"/>
            <p:nvPr/>
          </p:nvSpPr>
          <p:spPr>
            <a:xfrm>
              <a:off x="4819650" y="49530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Visited tracking prevents recall cycles</a:t>
              </a:r>
            </a:p>
          </p:txBody>
        </p:sp>
        <p:sp>
          <p:nvSpPr>
            <p:cNvPr id="60" name="Freeform 60"/>
            <p:cNvSpPr/>
            <p:nvPr/>
          </p:nvSpPr>
          <p:spPr>
            <a:xfrm>
              <a:off x="4387850" y="55181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61" name="TextBox 61"/>
            <p:cNvSpPr txBox="1"/>
            <p:nvPr/>
          </p:nvSpPr>
          <p:spPr>
            <a:xfrm>
              <a:off x="4819650" y="54483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Recall reaches child and grandchild batches</a:t>
              </a:r>
            </a:p>
          </p:txBody>
        </p:sp>
      </p:grpSp>
      <p:grpSp>
        <p:nvGrpSpPr>
          <p:cNvPr id="66" name="Group 66"/>
          <p:cNvGrpSpPr/>
          <p:nvPr/>
        </p:nvGrpSpPr>
        <p:grpSpPr>
          <a:xfrm>
            <a:off x="609600" y="5905500"/>
            <a:ext cx="10972800" cy="876300"/>
            <a:chOff x="609600" y="5905500"/>
            <a:chExt cx="10972800" cy="876300"/>
          </a:xfrm>
        </p:grpSpPr>
        <p:sp>
          <p:nvSpPr>
            <p:cNvPr id="63" name="Rectangle 63"/>
            <p:cNvSpPr/>
            <p:nvPr/>
          </p:nvSpPr>
          <p:spPr>
            <a:xfrm>
              <a:off x="609600" y="5905500"/>
              <a:ext cx="10972800" cy="514350"/>
            </a:xfrm>
            <a:prstGeom prst="rect">
              <a:avLst/>
            </a:prstGeom>
            <a:solidFill>
              <a:schemeClr val="accent2"/>
            </a:solidFill>
            <a:ln>
              <a:noFill/>
            </a:ln>
          </p:spPr>
          <p:txBody>
            <a:bodyPr/>
            <a:lstStyle/>
            <a:p>
              <a:endParaRPr lang="en-US"/>
            </a:p>
          </p:txBody>
        </p:sp>
        <p:sp>
          <p:nvSpPr>
            <p:cNvPr id="64" name="TextBox 64"/>
            <p:cNvSpPr txBox="1"/>
            <p:nvPr/>
          </p:nvSpPr>
          <p:spPr>
            <a:xfrm>
              <a:off x="838200" y="6048375"/>
              <a:ext cx="10096500" cy="266700"/>
            </a:xfrm>
            <a:prstGeom prst="rect">
              <a:avLst/>
            </a:prstGeom>
            <a:noFill/>
            <a:ln>
              <a:noFill/>
            </a:ln>
          </p:spPr>
          <p:txBody>
            <a:bodyPr wrap="square" lIns="0" tIns="41910" rIns="0" bIns="0" anchor="t" anchorCtr="0">
              <a:noAutofit/>
            </a:bodyPr>
            <a:lstStyle/>
            <a:p>
              <a:pPr algn="l"/>
              <a:r>
                <a:rPr lang="en-US" sz="1200" b="1" dirty="0">
                  <a:solidFill>
                    <a:srgbClr val="FFFFFF"/>
                  </a:solidFill>
                  <a:latin typeface="Consolas"/>
                  <a:ea typeface="Consolas"/>
                  <a:cs typeface="Consolas"/>
                </a:rPr>
                <a:t>INPUT ← LIN SUBMITS THE OFF-CHAIN TEMPERATURE SUMMARY</a:t>
              </a:r>
            </a:p>
          </p:txBody>
        </p:sp>
        <p:sp>
          <p:nvSpPr>
            <p:cNvPr id="65" name="TextBox 65"/>
            <p:cNvSpPr txBox="1"/>
            <p:nvPr/>
          </p:nvSpPr>
          <p:spPr>
            <a:xfrm>
              <a:off x="10668000" y="65532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05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38150"/>
            <a:ext cx="10972800" cy="923925"/>
            <a:chOff x="609600" y="438150"/>
            <a:chExt cx="10972800" cy="923925"/>
          </a:xfrm>
        </p:grpSpPr>
        <p:sp>
          <p:nvSpPr>
            <p:cNvPr id="2" name="TextBox 2"/>
            <p:cNvSpPr txBox="1"/>
            <p:nvPr/>
          </p:nvSpPr>
          <p:spPr>
            <a:xfrm>
              <a:off x="609600" y="438150"/>
              <a:ext cx="47625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06 / PERSON 3 · OFF-CHAIN</a:t>
              </a:r>
            </a:p>
          </p:txBody>
        </p:sp>
        <p:sp>
          <p:nvSpPr>
            <p:cNvPr id="3" name="TextBox 3"/>
            <p:cNvSpPr txBox="1"/>
            <p:nvPr/>
          </p:nvSpPr>
          <p:spPr>
            <a:xfrm>
              <a:off x="609600" y="742950"/>
              <a:ext cx="10096500" cy="495300"/>
            </a:xfrm>
            <a:prstGeom prst="rect">
              <a:avLst/>
            </a:prstGeom>
            <a:noFill/>
            <a:ln>
              <a:noFill/>
            </a:ln>
          </p:spPr>
          <p:txBody>
            <a:bodyPr wrap="square" lIns="0" tIns="21908" rIns="0" bIns="0" anchor="t" anchorCtr="0">
              <a:noAutofit/>
            </a:bodyPr>
            <a:lstStyle/>
            <a:p>
              <a:pPr algn="l"/>
              <a:r>
                <a:rPr lang="en-US" sz="3150" b="1" dirty="0">
                  <a:solidFill>
                    <a:schemeClr val="dk1"/>
                  </a:solidFill>
                  <a:latin typeface="+mn-lt"/>
                  <a:ea typeface="+mn-ea"/>
                  <a:cs typeface="+mn-cs"/>
                </a:rPr>
                <a:t>Lin, Chi-Hsien — off-chain services</a:t>
              </a:r>
            </a:p>
          </p:txBody>
        </p:sp>
        <p:sp>
          <p:nvSpPr>
            <p:cNvPr id="4" name="Line 4"/>
            <p:cNvSpPr/>
            <p:nvPr/>
          </p:nvSpPr>
          <p:spPr>
            <a:xfrm>
              <a:off x="609600" y="1352550"/>
              <a:ext cx="10972800" cy="9525"/>
            </a:xfrm>
            <a:custGeom>
              <a:avLst/>
              <a:gdLst/>
              <a:ahLst/>
              <a:cxnLst/>
              <a:rect l="l" t="t" r="r" b="b"/>
              <a:pathLst>
                <a:path w="10972800" h="9525">
                  <a:moveTo>
                    <a:pt x="0" y="0"/>
                  </a:moveTo>
                  <a:lnTo>
                    <a:pt x="10972800" y="0"/>
                  </a:lnTo>
                </a:path>
              </a:pathLst>
            </a:custGeom>
            <a:noFill/>
            <a:ln w="19050">
              <a:solidFill>
                <a:schemeClr val="accent3"/>
              </a:solidFill>
            </a:ln>
          </p:spPr>
          <p:txBody>
            <a:bodyPr/>
            <a:lstStyle/>
            <a:p>
              <a:endParaRPr lang="en-US"/>
            </a:p>
          </p:txBody>
        </p:sp>
      </p:grpSp>
      <p:grpSp>
        <p:nvGrpSpPr>
          <p:cNvPr id="23" name="Group 23"/>
          <p:cNvGrpSpPr/>
          <p:nvPr/>
        </p:nvGrpSpPr>
        <p:grpSpPr>
          <a:xfrm>
            <a:off x="609600" y="1619250"/>
            <a:ext cx="3429000" cy="4038600"/>
            <a:chOff x="609600" y="1619250"/>
            <a:chExt cx="3429000" cy="4038600"/>
          </a:xfrm>
        </p:grpSpPr>
        <p:sp>
          <p:nvSpPr>
            <p:cNvPr id="6" name="Rectangle 6"/>
            <p:cNvSpPr/>
            <p:nvPr/>
          </p:nvSpPr>
          <p:spPr>
            <a:xfrm>
              <a:off x="609600" y="1619250"/>
              <a:ext cx="3429000" cy="4038600"/>
            </a:xfrm>
            <a:prstGeom prst="rect">
              <a:avLst/>
            </a:prstGeom>
            <a:solidFill>
              <a:schemeClr val="accent5"/>
            </a:solidFill>
            <a:ln>
              <a:noFill/>
            </a:ln>
          </p:spPr>
          <p:txBody>
            <a:bodyPr/>
            <a:lstStyle/>
            <a:p>
              <a:endParaRPr lang="en-US"/>
            </a:p>
          </p:txBody>
        </p:sp>
        <p:sp>
          <p:nvSpPr>
            <p:cNvPr id="7" name="Rectangle 7"/>
            <p:cNvSpPr/>
            <p:nvPr/>
          </p:nvSpPr>
          <p:spPr>
            <a:xfrm>
              <a:off x="609600" y="1619250"/>
              <a:ext cx="76200" cy="4038600"/>
            </a:xfrm>
            <a:prstGeom prst="rect">
              <a:avLst/>
            </a:prstGeom>
            <a:solidFill>
              <a:schemeClr val="accent3"/>
            </a:solidFill>
            <a:ln>
              <a:noFill/>
            </a:ln>
          </p:spPr>
          <p:txBody>
            <a:bodyPr/>
            <a:lstStyle/>
            <a:p>
              <a:endParaRPr lang="en-US"/>
            </a:p>
          </p:txBody>
        </p:sp>
        <p:grpSp>
          <p:nvGrpSpPr>
            <p:cNvPr id="11" name="Group 11"/>
            <p:cNvGrpSpPr/>
            <p:nvPr/>
          </p:nvGrpSpPr>
          <p:grpSpPr>
            <a:xfrm>
              <a:off x="952500" y="1943100"/>
              <a:ext cx="304800" cy="342900"/>
              <a:chOff x="952500" y="1943100"/>
              <a:chExt cx="304800" cy="342900"/>
            </a:xfrm>
          </p:grpSpPr>
          <p:sp>
            <p:nvSpPr>
              <p:cNvPr id="8" name="Freeform 8"/>
              <p:cNvSpPr/>
              <p:nvPr/>
            </p:nvSpPr>
            <p:spPr>
              <a:xfrm>
                <a:off x="952500" y="1943100"/>
                <a:ext cx="304800" cy="114300"/>
              </a:xfrm>
              <a:custGeom>
                <a:avLst/>
                <a:gdLst/>
                <a:ahLst/>
                <a:cxnLst/>
                <a:rect l="l" t="t" r="r" b="b"/>
                <a:pathLst>
                  <a:path w="304800" h="114300">
                    <a:moveTo>
                      <a:pt x="0" y="57150"/>
                    </a:moveTo>
                    <a:cubicBezTo>
                      <a:pt x="0" y="88713"/>
                      <a:pt x="68232" y="114300"/>
                      <a:pt x="152400" y="114300"/>
                    </a:cubicBezTo>
                    <a:cubicBezTo>
                      <a:pt x="236568" y="114300"/>
                      <a:pt x="304800" y="88713"/>
                      <a:pt x="304800" y="57150"/>
                    </a:cubicBezTo>
                    <a:cubicBezTo>
                      <a:pt x="304800" y="25587"/>
                      <a:pt x="236568" y="0"/>
                      <a:pt x="152400" y="0"/>
                    </a:cubicBezTo>
                    <a:cubicBezTo>
                      <a:pt x="68232" y="0"/>
                      <a:pt x="0" y="25587"/>
                      <a:pt x="0" y="57150"/>
                    </a:cubicBezTo>
                  </a:path>
                </a:pathLst>
              </a:custGeom>
              <a:noFill/>
              <a:ln w="38100">
                <a:solidFill>
                  <a:schemeClr val="accent3"/>
                </a:solidFill>
              </a:ln>
            </p:spPr>
            <p:txBody>
              <a:bodyPr/>
              <a:lstStyle/>
              <a:p>
                <a:endParaRPr lang="en-US"/>
              </a:p>
            </p:txBody>
          </p:sp>
          <p:sp>
            <p:nvSpPr>
              <p:cNvPr id="9" name="Freeform 9"/>
              <p:cNvSpPr/>
              <p:nvPr/>
            </p:nvSpPr>
            <p:spPr>
              <a:xfrm>
                <a:off x="952500" y="200025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38100">
                <a:solidFill>
                  <a:schemeClr val="accent3"/>
                </a:solidFill>
              </a:ln>
            </p:spPr>
            <p:txBody>
              <a:bodyPr/>
              <a:lstStyle/>
              <a:p>
                <a:endParaRPr lang="en-US"/>
              </a:p>
            </p:txBody>
          </p:sp>
          <p:sp>
            <p:nvSpPr>
              <p:cNvPr id="10" name="Freeform 10"/>
              <p:cNvSpPr/>
              <p:nvPr/>
            </p:nvSpPr>
            <p:spPr>
              <a:xfrm>
                <a:off x="952500" y="211455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38100">
                <a:solidFill>
                  <a:schemeClr val="accent3"/>
                </a:solidFill>
              </a:ln>
            </p:spPr>
            <p:txBody>
              <a:bodyPr/>
              <a:lstStyle/>
              <a:p>
                <a:endParaRPr lang="en-US"/>
              </a:p>
            </p:txBody>
          </p:sp>
        </p:grpSp>
        <p:sp>
          <p:nvSpPr>
            <p:cNvPr id="12" name="TextBox 12"/>
            <p:cNvSpPr txBox="1"/>
            <p:nvPr/>
          </p:nvSpPr>
          <p:spPr>
            <a:xfrm>
              <a:off x="1524000" y="1885950"/>
              <a:ext cx="21907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OWNS</a:t>
              </a:r>
            </a:p>
          </p:txBody>
        </p:sp>
        <p:sp>
          <p:nvSpPr>
            <p:cNvPr id="13" name="TextBox 13"/>
            <p:cNvSpPr txBox="1"/>
            <p:nvPr/>
          </p:nvSpPr>
          <p:spPr>
            <a:xfrm>
              <a:off x="1524000" y="2152650"/>
              <a:ext cx="2190750" cy="285750"/>
            </a:xfrm>
            <a:prstGeom prst="rect">
              <a:avLst/>
            </a:prstGeom>
            <a:noFill/>
            <a:ln>
              <a:noFill/>
            </a:ln>
          </p:spPr>
          <p:txBody>
            <a:bodyPr wrap="square" lIns="0" tIns="15240" rIns="0" bIns="0" anchor="t" anchorCtr="0">
              <a:noAutofit/>
            </a:bodyPr>
            <a:lstStyle/>
            <a:p>
              <a:pPr algn="l"/>
              <a:r>
                <a:rPr lang="en-US" sz="1800" b="1" dirty="0">
                  <a:solidFill>
                    <a:schemeClr val="accent1"/>
                  </a:solidFill>
                  <a:latin typeface="+mn-lt"/>
                  <a:ea typeface="+mn-ea"/>
                  <a:cs typeface="+mn-cs"/>
                </a:rPr>
                <a:t>off-chain services</a:t>
              </a:r>
            </a:p>
          </p:txBody>
        </p:sp>
        <p:sp>
          <p:nvSpPr>
            <p:cNvPr id="14" name="Line 14"/>
            <p:cNvSpPr/>
            <p:nvPr/>
          </p:nvSpPr>
          <p:spPr>
            <a:xfrm>
              <a:off x="876300" y="262890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15" name="TextBox 15"/>
            <p:cNvSpPr txBox="1"/>
            <p:nvPr/>
          </p:nvSpPr>
          <p:spPr>
            <a:xfrm>
              <a:off x="876300" y="278130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KEY MODULES</a:t>
              </a:r>
            </a:p>
          </p:txBody>
        </p:sp>
        <p:sp>
          <p:nvSpPr>
            <p:cNvPr id="16" name="TextBox 16"/>
            <p:cNvSpPr txBox="1"/>
            <p:nvPr/>
          </p:nvSpPr>
          <p:spPr>
            <a:xfrm>
              <a:off x="876300" y="31242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pipeline.ts</a:t>
              </a:r>
            </a:p>
          </p:txBody>
        </p:sp>
        <p:sp>
          <p:nvSpPr>
            <p:cNvPr id="17" name="TextBox 17"/>
            <p:cNvSpPr txBox="1"/>
            <p:nvPr/>
          </p:nvSpPr>
          <p:spPr>
            <a:xfrm>
              <a:off x="876300" y="34290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summarise()</a:t>
              </a:r>
            </a:p>
          </p:txBody>
        </p:sp>
        <p:sp>
          <p:nvSpPr>
            <p:cNvPr id="18" name="TextBox 18"/>
            <p:cNvSpPr txBox="1"/>
            <p:nvPr/>
          </p:nvSpPr>
          <p:spPr>
            <a:xfrm>
              <a:off x="876300" y="37338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storage backend</a:t>
              </a:r>
            </a:p>
          </p:txBody>
        </p:sp>
        <p:sp>
          <p:nvSpPr>
            <p:cNvPr id="19" name="TextBox 19"/>
            <p:cNvSpPr txBox="1"/>
            <p:nvPr/>
          </p:nvSpPr>
          <p:spPr>
            <a:xfrm>
              <a:off x="876300" y="40386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pure logic / gateway</a:t>
              </a:r>
            </a:p>
          </p:txBody>
        </p:sp>
        <p:sp>
          <p:nvSpPr>
            <p:cNvPr id="20" name="Line 20"/>
            <p:cNvSpPr/>
            <p:nvPr/>
          </p:nvSpPr>
          <p:spPr>
            <a:xfrm>
              <a:off x="876300" y="447675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21" name="TextBox 21"/>
            <p:cNvSpPr txBox="1"/>
            <p:nvPr/>
          </p:nvSpPr>
          <p:spPr>
            <a:xfrm>
              <a:off x="876300" y="462915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DEMO PROOF</a:t>
              </a:r>
            </a:p>
          </p:txBody>
        </p:sp>
        <p:sp>
          <p:nvSpPr>
            <p:cNvPr id="22" name="TextBox 22"/>
            <p:cNvSpPr txBox="1"/>
            <p:nvPr/>
          </p:nvSpPr>
          <p:spPr>
            <a:xfrm>
              <a:off x="876300" y="4972050"/>
              <a:ext cx="2781300" cy="285750"/>
            </a:xfrm>
            <a:prstGeom prst="rect">
              <a:avLst/>
            </a:prstGeom>
            <a:noFill/>
            <a:ln>
              <a:noFill/>
            </a:ln>
          </p:spPr>
          <p:txBody>
            <a:bodyPr wrap="square" lIns="0" tIns="31432" rIns="0" bIns="0" anchor="t" anchorCtr="0">
              <a:noAutofit/>
            </a:bodyPr>
            <a:lstStyle/>
            <a:p>
              <a:pPr algn="l"/>
              <a:r>
                <a:rPr lang="en-US" sz="1650" b="1" dirty="0">
                  <a:solidFill>
                    <a:schemeClr val="accent3"/>
                  </a:solidFill>
                  <a:latin typeface="+mn-lt"/>
                  <a:ea typeface="+mn-ea"/>
                  <a:cs typeface="+mn-cs"/>
                </a:rPr>
                <a:t>ORACLE · STORE · VERIFY</a:t>
              </a:r>
            </a:p>
          </p:txBody>
        </p:sp>
      </p:grpSp>
      <p:grpSp>
        <p:nvGrpSpPr>
          <p:cNvPr id="54" name="Group 54"/>
          <p:cNvGrpSpPr/>
          <p:nvPr/>
        </p:nvGrpSpPr>
        <p:grpSpPr>
          <a:xfrm>
            <a:off x="4324350" y="1657350"/>
            <a:ext cx="7258050" cy="2019300"/>
            <a:chOff x="4324350" y="1657350"/>
            <a:chExt cx="7258050" cy="2019300"/>
          </a:xfrm>
        </p:grpSpPr>
        <p:sp>
          <p:nvSpPr>
            <p:cNvPr id="24" name="TextBox 24"/>
            <p:cNvSpPr txBox="1"/>
            <p:nvPr/>
          </p:nvSpPr>
          <p:spPr>
            <a:xfrm>
              <a:off x="4324350" y="1657350"/>
              <a:ext cx="38100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ORACLE PIPELINE</a:t>
              </a:r>
            </a:p>
          </p:txBody>
        </p:sp>
        <p:sp>
          <p:nvSpPr>
            <p:cNvPr id="25" name="Rectangle 25"/>
            <p:cNvSpPr/>
            <p:nvPr/>
          </p:nvSpPr>
          <p:spPr>
            <a:xfrm>
              <a:off x="4324350" y="2076450"/>
              <a:ext cx="1619250" cy="514350"/>
            </a:xfrm>
            <a:prstGeom prst="rect">
              <a:avLst/>
            </a:prstGeom>
            <a:solidFill>
              <a:schemeClr val="accent5"/>
            </a:solidFill>
            <a:ln w="19050">
              <a:solidFill>
                <a:schemeClr val="accent3"/>
              </a:solidFill>
            </a:ln>
          </p:spPr>
          <p:txBody>
            <a:bodyPr/>
            <a:lstStyle/>
            <a:p>
              <a:endParaRPr lang="en-US"/>
            </a:p>
          </p:txBody>
        </p:sp>
        <p:sp>
          <p:nvSpPr>
            <p:cNvPr id="26" name="TextBox 26"/>
            <p:cNvSpPr txBox="1"/>
            <p:nvPr/>
          </p:nvSpPr>
          <p:spPr>
            <a:xfrm>
              <a:off x="4324350" y="2190750"/>
              <a:ext cx="16192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raw series</a:t>
              </a:r>
            </a:p>
          </p:txBody>
        </p:sp>
        <p:sp>
          <p:nvSpPr>
            <p:cNvPr id="27" name="Line 27"/>
            <p:cNvSpPr/>
            <p:nvPr/>
          </p:nvSpPr>
          <p:spPr>
            <a:xfrm>
              <a:off x="5943600" y="233362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28" name="Polygon 28"/>
            <p:cNvSpPr/>
            <p:nvPr/>
          </p:nvSpPr>
          <p:spPr>
            <a:xfrm>
              <a:off x="6153150" y="226695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29" name="Rectangle 29"/>
            <p:cNvSpPr/>
            <p:nvPr/>
          </p:nvSpPr>
          <p:spPr>
            <a:xfrm>
              <a:off x="6267450" y="2076450"/>
              <a:ext cx="1428750" cy="514350"/>
            </a:xfrm>
            <a:prstGeom prst="rect">
              <a:avLst/>
            </a:prstGeom>
            <a:solidFill>
              <a:schemeClr val="accent3"/>
            </a:solidFill>
            <a:ln>
              <a:noFill/>
            </a:ln>
          </p:spPr>
          <p:txBody>
            <a:bodyPr/>
            <a:lstStyle/>
            <a:p>
              <a:endParaRPr lang="en-US"/>
            </a:p>
          </p:txBody>
        </p:sp>
        <p:sp>
          <p:nvSpPr>
            <p:cNvPr id="30" name="TextBox 30"/>
            <p:cNvSpPr txBox="1"/>
            <p:nvPr/>
          </p:nvSpPr>
          <p:spPr>
            <a:xfrm>
              <a:off x="6267450" y="2190750"/>
              <a:ext cx="1428750" cy="266700"/>
            </a:xfrm>
            <a:prstGeom prst="rect">
              <a:avLst/>
            </a:prstGeom>
            <a:noFill/>
            <a:ln>
              <a:noFill/>
            </a:ln>
          </p:spPr>
          <p:txBody>
            <a:bodyPr wrap="square" lIns="0" tIns="70485" rIns="0" bIns="0" anchor="t" anchorCtr="0">
              <a:noAutofit/>
            </a:bodyPr>
            <a:lstStyle/>
            <a:p>
              <a:pPr algn="ctr"/>
              <a:r>
                <a:rPr lang="en-US" sz="1200" b="1" dirty="0">
                  <a:solidFill>
                    <a:srgbClr val="FFFFFF"/>
                  </a:solidFill>
                  <a:latin typeface="Consolas"/>
                  <a:ea typeface="Consolas"/>
                  <a:cs typeface="Consolas"/>
                </a:rPr>
                <a:t>summarise()</a:t>
              </a:r>
            </a:p>
          </p:txBody>
        </p:sp>
        <p:sp>
          <p:nvSpPr>
            <p:cNvPr id="31" name="Line 31"/>
            <p:cNvSpPr/>
            <p:nvPr/>
          </p:nvSpPr>
          <p:spPr>
            <a:xfrm>
              <a:off x="7696200" y="233362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32" name="Polygon 32"/>
            <p:cNvSpPr/>
            <p:nvPr/>
          </p:nvSpPr>
          <p:spPr>
            <a:xfrm>
              <a:off x="7905750" y="226695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33" name="Rectangle 33"/>
            <p:cNvSpPr/>
            <p:nvPr/>
          </p:nvSpPr>
          <p:spPr>
            <a:xfrm>
              <a:off x="8020050" y="2076450"/>
              <a:ext cx="1581150" cy="514350"/>
            </a:xfrm>
            <a:prstGeom prst="rect">
              <a:avLst/>
            </a:prstGeom>
            <a:solidFill>
              <a:schemeClr val="accent5"/>
            </a:solidFill>
            <a:ln w="19050">
              <a:solidFill>
                <a:schemeClr val="accent3"/>
              </a:solidFill>
            </a:ln>
          </p:spPr>
          <p:txBody>
            <a:bodyPr/>
            <a:lstStyle/>
            <a:p>
              <a:endParaRPr lang="en-US"/>
            </a:p>
          </p:txBody>
        </p:sp>
        <p:sp>
          <p:nvSpPr>
            <p:cNvPr id="34" name="TextBox 34"/>
            <p:cNvSpPr txBox="1"/>
            <p:nvPr/>
          </p:nvSpPr>
          <p:spPr>
            <a:xfrm>
              <a:off x="8020050" y="2190750"/>
              <a:ext cx="15811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signed summary</a:t>
              </a:r>
            </a:p>
          </p:txBody>
        </p:sp>
        <p:sp>
          <p:nvSpPr>
            <p:cNvPr id="35" name="Line 35"/>
            <p:cNvSpPr/>
            <p:nvPr/>
          </p:nvSpPr>
          <p:spPr>
            <a:xfrm>
              <a:off x="9601200" y="233362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36" name="Polygon 36"/>
            <p:cNvSpPr/>
            <p:nvPr/>
          </p:nvSpPr>
          <p:spPr>
            <a:xfrm>
              <a:off x="9810750" y="226695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37" name="Rectangle 37"/>
            <p:cNvSpPr/>
            <p:nvPr/>
          </p:nvSpPr>
          <p:spPr>
            <a:xfrm>
              <a:off x="9925050" y="2076450"/>
              <a:ext cx="1657350" cy="514350"/>
            </a:xfrm>
            <a:prstGeom prst="rect">
              <a:avLst/>
            </a:prstGeom>
            <a:solidFill>
              <a:schemeClr val="accent1"/>
            </a:solidFill>
            <a:ln>
              <a:noFill/>
            </a:ln>
          </p:spPr>
          <p:txBody>
            <a:bodyPr/>
            <a:lstStyle/>
            <a:p>
              <a:endParaRPr lang="en-US"/>
            </a:p>
          </p:txBody>
        </p:sp>
        <p:sp>
          <p:nvSpPr>
            <p:cNvPr id="38" name="TextBox 38"/>
            <p:cNvSpPr txBox="1"/>
            <p:nvPr/>
          </p:nvSpPr>
          <p:spPr>
            <a:xfrm>
              <a:off x="9925050" y="219075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gateway submit</a:t>
              </a:r>
            </a:p>
          </p:txBody>
        </p:sp>
        <p:sp>
          <p:nvSpPr>
            <p:cNvPr id="39" name="TextBox 39"/>
            <p:cNvSpPr txBox="1"/>
            <p:nvPr/>
          </p:nvSpPr>
          <p:spPr>
            <a:xfrm>
              <a:off x="4324350" y="2838450"/>
              <a:ext cx="3810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STORAGE INTEGRITY</a:t>
              </a:r>
            </a:p>
          </p:txBody>
        </p:sp>
        <p:sp>
          <p:nvSpPr>
            <p:cNvPr id="40" name="Rectangle 40"/>
            <p:cNvSpPr/>
            <p:nvPr/>
          </p:nvSpPr>
          <p:spPr>
            <a:xfrm>
              <a:off x="4324350" y="3162300"/>
              <a:ext cx="1619250" cy="514350"/>
            </a:xfrm>
            <a:prstGeom prst="rect">
              <a:avLst/>
            </a:prstGeom>
            <a:solidFill>
              <a:schemeClr val="accent5"/>
            </a:solidFill>
            <a:ln w="19050">
              <a:solidFill>
                <a:schemeClr val="accent3"/>
              </a:solidFill>
            </a:ln>
          </p:spPr>
          <p:txBody>
            <a:bodyPr/>
            <a:lstStyle/>
            <a:p>
              <a:endParaRPr lang="en-US"/>
            </a:p>
          </p:txBody>
        </p:sp>
        <p:sp>
          <p:nvSpPr>
            <p:cNvPr id="41" name="TextBox 41"/>
            <p:cNvSpPr txBox="1"/>
            <p:nvPr/>
          </p:nvSpPr>
          <p:spPr>
            <a:xfrm>
              <a:off x="4324350" y="3276600"/>
              <a:ext cx="16192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write content</a:t>
              </a:r>
            </a:p>
          </p:txBody>
        </p:sp>
        <p:sp>
          <p:nvSpPr>
            <p:cNvPr id="42" name="Line 42"/>
            <p:cNvSpPr/>
            <p:nvPr/>
          </p:nvSpPr>
          <p:spPr>
            <a:xfrm>
              <a:off x="5943600" y="341947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43" name="Polygon 43"/>
            <p:cNvSpPr/>
            <p:nvPr/>
          </p:nvSpPr>
          <p:spPr>
            <a:xfrm>
              <a:off x="6153150" y="335280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44" name="Rectangle 44"/>
            <p:cNvSpPr/>
            <p:nvPr/>
          </p:nvSpPr>
          <p:spPr>
            <a:xfrm>
              <a:off x="6267450" y="3162300"/>
              <a:ext cx="1428750" cy="514350"/>
            </a:xfrm>
            <a:prstGeom prst="rect">
              <a:avLst/>
            </a:prstGeom>
            <a:solidFill>
              <a:schemeClr val="accent5"/>
            </a:solidFill>
            <a:ln w="19050">
              <a:solidFill>
                <a:schemeClr val="accent3"/>
              </a:solidFill>
            </a:ln>
          </p:spPr>
          <p:txBody>
            <a:bodyPr/>
            <a:lstStyle/>
            <a:p>
              <a:endParaRPr lang="en-US"/>
            </a:p>
          </p:txBody>
        </p:sp>
        <p:sp>
          <p:nvSpPr>
            <p:cNvPr id="45" name="TextBox 45"/>
            <p:cNvSpPr txBox="1"/>
            <p:nvPr/>
          </p:nvSpPr>
          <p:spPr>
            <a:xfrm>
              <a:off x="6267450" y="3276600"/>
              <a:ext cx="1428750" cy="266700"/>
            </a:xfrm>
            <a:prstGeom prst="rect">
              <a:avLst/>
            </a:prstGeom>
            <a:noFill/>
            <a:ln>
              <a:noFill/>
            </a:ln>
          </p:spPr>
          <p:txBody>
            <a:bodyPr wrap="square" lIns="0" tIns="70485" rIns="0" bIns="0" anchor="t" anchorCtr="0">
              <a:noAutofit/>
            </a:bodyPr>
            <a:lstStyle/>
            <a:p>
              <a:pPr algn="ctr"/>
              <a:r>
                <a:rPr lang="en-US" sz="1200" b="1" dirty="0">
                  <a:solidFill>
                    <a:schemeClr val="accent1"/>
                  </a:solidFill>
                  <a:latin typeface="Consolas"/>
                  <a:ea typeface="Consolas"/>
                  <a:cs typeface="Consolas"/>
                </a:rPr>
                <a:t>SHA-256</a:t>
              </a:r>
            </a:p>
          </p:txBody>
        </p:sp>
        <p:sp>
          <p:nvSpPr>
            <p:cNvPr id="46" name="Line 46"/>
            <p:cNvSpPr/>
            <p:nvPr/>
          </p:nvSpPr>
          <p:spPr>
            <a:xfrm>
              <a:off x="7696200" y="341947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47" name="Polygon 47"/>
            <p:cNvSpPr/>
            <p:nvPr/>
          </p:nvSpPr>
          <p:spPr>
            <a:xfrm>
              <a:off x="7905750" y="335280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48" name="Rectangle 48"/>
            <p:cNvSpPr/>
            <p:nvPr/>
          </p:nvSpPr>
          <p:spPr>
            <a:xfrm>
              <a:off x="8020050" y="3162300"/>
              <a:ext cx="1581150" cy="514350"/>
            </a:xfrm>
            <a:prstGeom prst="rect">
              <a:avLst/>
            </a:prstGeom>
            <a:solidFill>
              <a:schemeClr val="accent5"/>
            </a:solidFill>
            <a:ln w="19050">
              <a:solidFill>
                <a:schemeClr val="accent3"/>
              </a:solidFill>
            </a:ln>
          </p:spPr>
          <p:txBody>
            <a:bodyPr/>
            <a:lstStyle/>
            <a:p>
              <a:endParaRPr lang="en-US"/>
            </a:p>
          </p:txBody>
        </p:sp>
        <p:sp>
          <p:nvSpPr>
            <p:cNvPr id="49" name="TextBox 49"/>
            <p:cNvSpPr txBox="1"/>
            <p:nvPr/>
          </p:nvSpPr>
          <p:spPr>
            <a:xfrm>
              <a:off x="8020050" y="3276600"/>
              <a:ext cx="15811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re-hash read</a:t>
              </a:r>
            </a:p>
          </p:txBody>
        </p:sp>
        <p:sp>
          <p:nvSpPr>
            <p:cNvPr id="50" name="Line 50"/>
            <p:cNvSpPr/>
            <p:nvPr/>
          </p:nvSpPr>
          <p:spPr>
            <a:xfrm>
              <a:off x="9601200" y="3419475"/>
              <a:ext cx="323850" cy="9525"/>
            </a:xfrm>
            <a:custGeom>
              <a:avLst/>
              <a:gdLst/>
              <a:ahLst/>
              <a:cxnLst/>
              <a:rect l="l" t="t" r="r" b="b"/>
              <a:pathLst>
                <a:path w="323850" h="9525">
                  <a:moveTo>
                    <a:pt x="0" y="0"/>
                  </a:moveTo>
                  <a:lnTo>
                    <a:pt x="323850" y="0"/>
                  </a:lnTo>
                </a:path>
              </a:pathLst>
            </a:custGeom>
            <a:noFill/>
            <a:ln w="28575">
              <a:solidFill>
                <a:schemeClr val="accent3"/>
              </a:solidFill>
            </a:ln>
          </p:spPr>
          <p:txBody>
            <a:bodyPr/>
            <a:lstStyle/>
            <a:p>
              <a:endParaRPr lang="en-US"/>
            </a:p>
          </p:txBody>
        </p:sp>
        <p:sp>
          <p:nvSpPr>
            <p:cNvPr id="51" name="Polygon 51"/>
            <p:cNvSpPr/>
            <p:nvPr/>
          </p:nvSpPr>
          <p:spPr>
            <a:xfrm>
              <a:off x="9810750" y="3352800"/>
              <a:ext cx="114300" cy="133350"/>
            </a:xfrm>
            <a:custGeom>
              <a:avLst/>
              <a:gdLst/>
              <a:ahLst/>
              <a:cxnLst/>
              <a:rect l="l" t="t" r="r" b="b"/>
              <a:pathLst>
                <a:path w="114300" h="133350">
                  <a:moveTo>
                    <a:pt x="114300" y="66675"/>
                  </a:moveTo>
                  <a:lnTo>
                    <a:pt x="0" y="0"/>
                  </a:lnTo>
                  <a:lnTo>
                    <a:pt x="0" y="133350"/>
                  </a:lnTo>
                  <a:close/>
                </a:path>
              </a:pathLst>
            </a:custGeom>
            <a:solidFill>
              <a:schemeClr val="accent3"/>
            </a:solidFill>
            <a:ln>
              <a:noFill/>
            </a:ln>
          </p:spPr>
          <p:txBody>
            <a:bodyPr/>
            <a:lstStyle/>
            <a:p>
              <a:endParaRPr lang="en-US"/>
            </a:p>
          </p:txBody>
        </p:sp>
        <p:sp>
          <p:nvSpPr>
            <p:cNvPr id="52" name="Rectangle 52"/>
            <p:cNvSpPr/>
            <p:nvPr/>
          </p:nvSpPr>
          <p:spPr>
            <a:xfrm>
              <a:off x="9925050" y="3162300"/>
              <a:ext cx="1657350" cy="514350"/>
            </a:xfrm>
            <a:prstGeom prst="rect">
              <a:avLst/>
            </a:prstGeom>
            <a:solidFill>
              <a:schemeClr val="accent3"/>
            </a:solidFill>
            <a:ln>
              <a:noFill/>
            </a:ln>
          </p:spPr>
          <p:txBody>
            <a:bodyPr/>
            <a:lstStyle/>
            <a:p>
              <a:endParaRPr lang="en-US"/>
            </a:p>
          </p:txBody>
        </p:sp>
        <p:sp>
          <p:nvSpPr>
            <p:cNvPr id="53" name="TextBox 53"/>
            <p:cNvSpPr txBox="1"/>
            <p:nvPr/>
          </p:nvSpPr>
          <p:spPr>
            <a:xfrm>
              <a:off x="9925050" y="327660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verify / reject</a:t>
              </a:r>
            </a:p>
          </p:txBody>
        </p:sp>
      </p:grpSp>
      <p:grpSp>
        <p:nvGrpSpPr>
          <p:cNvPr id="62" name="Group 62"/>
          <p:cNvGrpSpPr/>
          <p:nvPr/>
        </p:nvGrpSpPr>
        <p:grpSpPr>
          <a:xfrm>
            <a:off x="4324350" y="4000500"/>
            <a:ext cx="6972300" cy="1733550"/>
            <a:chOff x="4324350" y="4000500"/>
            <a:chExt cx="6972300" cy="1733550"/>
          </a:xfrm>
        </p:grpSpPr>
        <p:sp>
          <p:nvSpPr>
            <p:cNvPr id="55" name="TextBox 55"/>
            <p:cNvSpPr txBox="1"/>
            <p:nvPr/>
          </p:nvSpPr>
          <p:spPr>
            <a:xfrm>
              <a:off x="4324350" y="4000500"/>
              <a:ext cx="409575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WHAT THE CODE GUARANTEES</a:t>
              </a:r>
            </a:p>
          </p:txBody>
        </p:sp>
        <p:sp>
          <p:nvSpPr>
            <p:cNvPr id="56" name="Freeform 56"/>
            <p:cNvSpPr/>
            <p:nvPr/>
          </p:nvSpPr>
          <p:spPr>
            <a:xfrm>
              <a:off x="4387850" y="45275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7" name="TextBox 57"/>
            <p:cNvSpPr txBox="1"/>
            <p:nvPr/>
          </p:nvSpPr>
          <p:spPr>
            <a:xfrm>
              <a:off x="4819650" y="4457700"/>
              <a:ext cx="6477000" cy="285750"/>
            </a:xfrm>
            <a:prstGeom prst="rect">
              <a:avLst/>
            </a:prstGeom>
            <a:noFill/>
            <a:ln>
              <a:noFill/>
            </a:ln>
          </p:spPr>
          <p:txBody>
            <a:bodyPr wrap="square" lIns="0" tIns="21908" rIns="0" bIns="0" anchor="t" anchorCtr="0">
              <a:noAutofit/>
            </a:bodyPr>
            <a:lstStyle/>
            <a:p>
              <a:pPr algn="l"/>
              <a:r>
                <a:rPr lang="en-US" sz="1650" b="1" dirty="0">
                  <a:solidFill>
                    <a:schemeClr val="dk1"/>
                  </a:solidFill>
                  <a:latin typeface="+mn-lt"/>
                  <a:ea typeface="+mn-ea"/>
                  <a:cs typeface="+mn-cs"/>
                </a:rPr>
                <a:t>Pure aggregation is easy to unit test</a:t>
              </a:r>
            </a:p>
          </p:txBody>
        </p:sp>
        <p:sp>
          <p:nvSpPr>
            <p:cNvPr id="58" name="Freeform 58"/>
            <p:cNvSpPr/>
            <p:nvPr/>
          </p:nvSpPr>
          <p:spPr>
            <a:xfrm>
              <a:off x="4387850" y="50228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9" name="TextBox 59"/>
            <p:cNvSpPr txBox="1"/>
            <p:nvPr/>
          </p:nvSpPr>
          <p:spPr>
            <a:xfrm>
              <a:off x="4819650" y="49530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Re-hashing detects changed stored evidence</a:t>
              </a:r>
            </a:p>
          </p:txBody>
        </p:sp>
        <p:sp>
          <p:nvSpPr>
            <p:cNvPr id="60" name="Freeform 60"/>
            <p:cNvSpPr/>
            <p:nvPr/>
          </p:nvSpPr>
          <p:spPr>
            <a:xfrm>
              <a:off x="4387850" y="55181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61" name="TextBox 61"/>
            <p:cNvSpPr txBox="1"/>
            <p:nvPr/>
          </p:nvSpPr>
          <p:spPr>
            <a:xfrm>
              <a:off x="4819650" y="54483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Gateway code stays outside pure tests</a:t>
              </a:r>
            </a:p>
          </p:txBody>
        </p:sp>
      </p:grpSp>
      <p:grpSp>
        <p:nvGrpSpPr>
          <p:cNvPr id="66" name="Group 66"/>
          <p:cNvGrpSpPr/>
          <p:nvPr/>
        </p:nvGrpSpPr>
        <p:grpSpPr>
          <a:xfrm>
            <a:off x="609600" y="5905500"/>
            <a:ext cx="10972800" cy="876300"/>
            <a:chOff x="609600" y="5905500"/>
            <a:chExt cx="10972800" cy="876300"/>
          </a:xfrm>
        </p:grpSpPr>
        <p:sp>
          <p:nvSpPr>
            <p:cNvPr id="63" name="Rectangle 63"/>
            <p:cNvSpPr/>
            <p:nvPr/>
          </p:nvSpPr>
          <p:spPr>
            <a:xfrm>
              <a:off x="609600" y="5905500"/>
              <a:ext cx="10972800" cy="514350"/>
            </a:xfrm>
            <a:prstGeom prst="rect">
              <a:avLst/>
            </a:prstGeom>
            <a:solidFill>
              <a:schemeClr val="accent3"/>
            </a:solidFill>
            <a:ln>
              <a:noFill/>
            </a:ln>
          </p:spPr>
          <p:txBody>
            <a:bodyPr/>
            <a:lstStyle/>
            <a:p>
              <a:endParaRPr lang="en-US"/>
            </a:p>
          </p:txBody>
        </p:sp>
        <p:sp>
          <p:nvSpPr>
            <p:cNvPr id="64" name="TextBox 64"/>
            <p:cNvSpPr txBox="1"/>
            <p:nvPr/>
          </p:nvSpPr>
          <p:spPr>
            <a:xfrm>
              <a:off x="838200" y="6048375"/>
              <a:ext cx="10096500" cy="266700"/>
            </a:xfrm>
            <a:prstGeom prst="rect">
              <a:avLst/>
            </a:prstGeom>
            <a:noFill/>
            <a:ln>
              <a:noFill/>
            </a:ln>
          </p:spPr>
          <p:txBody>
            <a:bodyPr wrap="square" lIns="0" tIns="41910" rIns="0" bIns="0" anchor="t" anchorCtr="0">
              <a:noAutofit/>
            </a:bodyPr>
            <a:lstStyle/>
            <a:p>
              <a:pPr algn="l"/>
              <a:r>
                <a:rPr lang="en-US" sz="1200" b="1" dirty="0">
                  <a:solidFill>
                    <a:srgbClr val="FFFFFF"/>
                  </a:solidFill>
                  <a:latin typeface="Consolas"/>
                  <a:ea typeface="Consolas"/>
                  <a:cs typeface="Consolas"/>
                </a:rPr>
                <a:t>HAND-OFF → HU RECEIVES A SIGNED SUMMARY AND RAW-DATA HASH</a:t>
              </a:r>
            </a:p>
          </p:txBody>
        </p:sp>
        <p:sp>
          <p:nvSpPr>
            <p:cNvPr id="65" name="TextBox 65"/>
            <p:cNvSpPr txBox="1"/>
            <p:nvPr/>
          </p:nvSpPr>
          <p:spPr>
            <a:xfrm>
              <a:off x="10668000" y="65532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06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38150"/>
            <a:ext cx="10972800" cy="923925"/>
            <a:chOff x="609600" y="438150"/>
            <a:chExt cx="10972800" cy="923925"/>
          </a:xfrm>
        </p:grpSpPr>
        <p:sp>
          <p:nvSpPr>
            <p:cNvPr id="2" name="TextBox 2"/>
            <p:cNvSpPr txBox="1"/>
            <p:nvPr/>
          </p:nvSpPr>
          <p:spPr>
            <a:xfrm>
              <a:off x="609600" y="438150"/>
              <a:ext cx="51435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07 / PERSON 4 · CLIENTS + NETWORK</a:t>
              </a:r>
            </a:p>
          </p:txBody>
        </p:sp>
        <p:sp>
          <p:nvSpPr>
            <p:cNvPr id="3" name="TextBox 3"/>
            <p:cNvSpPr txBox="1"/>
            <p:nvPr/>
          </p:nvSpPr>
          <p:spPr>
            <a:xfrm>
              <a:off x="609600" y="742950"/>
              <a:ext cx="10477500" cy="495300"/>
            </a:xfrm>
            <a:prstGeom prst="rect">
              <a:avLst/>
            </a:prstGeom>
            <a:noFill/>
            <a:ln>
              <a:noFill/>
            </a:ln>
          </p:spPr>
          <p:txBody>
            <a:bodyPr wrap="square" lIns="0" tIns="21908" rIns="0" bIns="0" anchor="t" anchorCtr="0">
              <a:noAutofit/>
            </a:bodyPr>
            <a:lstStyle/>
            <a:p>
              <a:pPr algn="l"/>
              <a:r>
                <a:rPr lang="en-US" sz="3150" b="1" dirty="0">
                  <a:solidFill>
                    <a:schemeClr val="dk1"/>
                  </a:solidFill>
                  <a:latin typeface="+mn-lt"/>
                  <a:ea typeface="+mn-ea"/>
                  <a:cs typeface="+mn-cs"/>
                </a:rPr>
                <a:t>Huang, Neier — client applications &amp; network</a:t>
              </a:r>
            </a:p>
          </p:txBody>
        </p:sp>
        <p:sp>
          <p:nvSpPr>
            <p:cNvPr id="4" name="Line 4"/>
            <p:cNvSpPr/>
            <p:nvPr/>
          </p:nvSpPr>
          <p:spPr>
            <a:xfrm>
              <a:off x="609600" y="1352550"/>
              <a:ext cx="10972800" cy="9525"/>
            </a:xfrm>
            <a:custGeom>
              <a:avLst/>
              <a:gdLst/>
              <a:ahLst/>
              <a:cxnLst/>
              <a:rect l="l" t="t" r="r" b="b"/>
              <a:pathLst>
                <a:path w="10972800" h="9525">
                  <a:moveTo>
                    <a:pt x="0" y="0"/>
                  </a:moveTo>
                  <a:lnTo>
                    <a:pt x="10972800" y="0"/>
                  </a:lnTo>
                </a:path>
              </a:pathLst>
            </a:custGeom>
            <a:noFill/>
            <a:ln w="19050">
              <a:solidFill>
                <a:schemeClr val="accent1"/>
              </a:solidFill>
            </a:ln>
          </p:spPr>
          <p:txBody>
            <a:bodyPr/>
            <a:lstStyle/>
            <a:p>
              <a:endParaRPr lang="en-US"/>
            </a:p>
          </p:txBody>
        </p:sp>
      </p:grpSp>
      <p:grpSp>
        <p:nvGrpSpPr>
          <p:cNvPr id="24" name="Group 24"/>
          <p:cNvGrpSpPr/>
          <p:nvPr/>
        </p:nvGrpSpPr>
        <p:grpSpPr>
          <a:xfrm>
            <a:off x="609600" y="1619250"/>
            <a:ext cx="3429000" cy="4038600"/>
            <a:chOff x="609600" y="1619250"/>
            <a:chExt cx="3429000" cy="4038600"/>
          </a:xfrm>
        </p:grpSpPr>
        <p:sp>
          <p:nvSpPr>
            <p:cNvPr id="6" name="Rectangle 6"/>
            <p:cNvSpPr/>
            <p:nvPr/>
          </p:nvSpPr>
          <p:spPr>
            <a:xfrm>
              <a:off x="609600" y="1619250"/>
              <a:ext cx="3429000" cy="4038600"/>
            </a:xfrm>
            <a:prstGeom prst="rect">
              <a:avLst/>
            </a:prstGeom>
            <a:solidFill>
              <a:schemeClr val="accent5"/>
            </a:solidFill>
            <a:ln>
              <a:noFill/>
            </a:ln>
          </p:spPr>
          <p:txBody>
            <a:bodyPr/>
            <a:lstStyle/>
            <a:p>
              <a:endParaRPr lang="en-US"/>
            </a:p>
          </p:txBody>
        </p:sp>
        <p:sp>
          <p:nvSpPr>
            <p:cNvPr id="7" name="Rectangle 7"/>
            <p:cNvSpPr/>
            <p:nvPr/>
          </p:nvSpPr>
          <p:spPr>
            <a:xfrm>
              <a:off x="609600" y="1619250"/>
              <a:ext cx="76200" cy="4038600"/>
            </a:xfrm>
            <a:prstGeom prst="rect">
              <a:avLst/>
            </a:prstGeom>
            <a:solidFill>
              <a:schemeClr val="accent1"/>
            </a:solidFill>
            <a:ln>
              <a:noFill/>
            </a:ln>
          </p:spPr>
          <p:txBody>
            <a:bodyPr/>
            <a:lstStyle/>
            <a:p>
              <a:endParaRPr lang="en-US"/>
            </a:p>
          </p:txBody>
        </p:sp>
        <p:grpSp>
          <p:nvGrpSpPr>
            <p:cNvPr id="12" name="Group 12"/>
            <p:cNvGrpSpPr/>
            <p:nvPr/>
          </p:nvGrpSpPr>
          <p:grpSpPr>
            <a:xfrm>
              <a:off x="933450" y="1943100"/>
              <a:ext cx="342900" cy="342900"/>
              <a:chOff x="933450" y="1943100"/>
              <a:chExt cx="342900" cy="342900"/>
            </a:xfrm>
          </p:grpSpPr>
          <p:sp>
            <p:nvSpPr>
              <p:cNvPr id="8" name="Freeform 8"/>
              <p:cNvSpPr/>
              <p:nvPr/>
            </p:nvSpPr>
            <p:spPr>
              <a:xfrm>
                <a:off x="971550" y="194310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38100">
                <a:solidFill>
                  <a:schemeClr val="accent1"/>
                </a:solidFill>
              </a:ln>
            </p:spPr>
            <p:txBody>
              <a:bodyPr/>
              <a:lstStyle/>
              <a:p>
                <a:endParaRPr lang="en-US"/>
              </a:p>
            </p:txBody>
          </p:sp>
          <p:sp>
            <p:nvSpPr>
              <p:cNvPr id="9" name="Freeform 9"/>
              <p:cNvSpPr/>
              <p:nvPr/>
            </p:nvSpPr>
            <p:spPr>
              <a:xfrm>
                <a:off x="933450" y="2171700"/>
                <a:ext cx="228600" cy="114300"/>
              </a:xfrm>
              <a:custGeom>
                <a:avLst/>
                <a:gdLst/>
                <a:ahLst/>
                <a:cxnLst/>
                <a:rect l="l" t="t" r="r" b="b"/>
                <a:pathLst>
                  <a:path w="228600" h="114300">
                    <a:moveTo>
                      <a:pt x="0" y="114300"/>
                    </a:moveTo>
                    <a:lnTo>
                      <a:pt x="0" y="76200"/>
                    </a:lnTo>
                    <a:cubicBezTo>
                      <a:pt x="0" y="34116"/>
                      <a:pt x="34116" y="0"/>
                      <a:pt x="76200" y="0"/>
                    </a:cubicBezTo>
                    <a:lnTo>
                      <a:pt x="152400" y="0"/>
                    </a:lnTo>
                    <a:cubicBezTo>
                      <a:pt x="194484" y="0"/>
                      <a:pt x="228600" y="34116"/>
                      <a:pt x="228600" y="76200"/>
                    </a:cubicBezTo>
                    <a:lnTo>
                      <a:pt x="228600" y="114300"/>
                    </a:lnTo>
                  </a:path>
                </a:pathLst>
              </a:custGeom>
              <a:noFill/>
              <a:ln w="38100">
                <a:solidFill>
                  <a:schemeClr val="accent1"/>
                </a:solidFill>
              </a:ln>
            </p:spPr>
            <p:txBody>
              <a:bodyPr/>
              <a:lstStyle/>
              <a:p>
                <a:endParaRPr lang="en-US"/>
              </a:p>
            </p:txBody>
          </p:sp>
          <p:sp>
            <p:nvSpPr>
              <p:cNvPr id="10" name="Freeform 10"/>
              <p:cNvSpPr/>
              <p:nvPr/>
            </p:nvSpPr>
            <p:spPr>
              <a:xfrm>
                <a:off x="1181100" y="1945576"/>
                <a:ext cx="57299" cy="147638"/>
              </a:xfrm>
              <a:custGeom>
                <a:avLst/>
                <a:gdLst/>
                <a:ahLst/>
                <a:cxnLst/>
                <a:rect l="l" t="t" r="r" b="b"/>
                <a:pathLst>
                  <a:path w="57299" h="147638">
                    <a:moveTo>
                      <a:pt x="0" y="0"/>
                    </a:moveTo>
                    <a:cubicBezTo>
                      <a:pt x="33717" y="8633"/>
                      <a:pt x="57299" y="39014"/>
                      <a:pt x="57299" y="73819"/>
                    </a:cubicBezTo>
                    <a:cubicBezTo>
                      <a:pt x="57299" y="108623"/>
                      <a:pt x="33717" y="139005"/>
                      <a:pt x="0" y="147638"/>
                    </a:cubicBezTo>
                  </a:path>
                </a:pathLst>
              </a:custGeom>
              <a:noFill/>
              <a:ln w="38100">
                <a:solidFill>
                  <a:schemeClr val="accent1"/>
                </a:solidFill>
              </a:ln>
            </p:spPr>
            <p:txBody>
              <a:bodyPr/>
              <a:lstStyle/>
              <a:p>
                <a:endParaRPr lang="en-US"/>
              </a:p>
            </p:txBody>
          </p:sp>
          <p:sp>
            <p:nvSpPr>
              <p:cNvPr id="11" name="Freeform 11"/>
              <p:cNvSpPr/>
              <p:nvPr/>
            </p:nvSpPr>
            <p:spPr>
              <a:xfrm>
                <a:off x="1219200" y="2174558"/>
                <a:ext cx="57150" cy="111442"/>
              </a:xfrm>
              <a:custGeom>
                <a:avLst/>
                <a:gdLst/>
                <a:ahLst/>
                <a:cxnLst/>
                <a:rect l="l" t="t" r="r" b="b"/>
                <a:pathLst>
                  <a:path w="57150" h="111442">
                    <a:moveTo>
                      <a:pt x="57150" y="111442"/>
                    </a:moveTo>
                    <a:lnTo>
                      <a:pt x="57150" y="73342"/>
                    </a:lnTo>
                    <a:cubicBezTo>
                      <a:pt x="56951" y="38759"/>
                      <a:pt x="33486" y="8646"/>
                      <a:pt x="0" y="0"/>
                    </a:cubicBezTo>
                  </a:path>
                </a:pathLst>
              </a:custGeom>
              <a:noFill/>
              <a:ln w="38100">
                <a:solidFill>
                  <a:schemeClr val="accent1"/>
                </a:solidFill>
              </a:ln>
            </p:spPr>
            <p:txBody>
              <a:bodyPr/>
              <a:lstStyle/>
              <a:p>
                <a:endParaRPr lang="en-US"/>
              </a:p>
            </p:txBody>
          </p:sp>
        </p:grpSp>
        <p:sp>
          <p:nvSpPr>
            <p:cNvPr id="13" name="TextBox 13"/>
            <p:cNvSpPr txBox="1"/>
            <p:nvPr/>
          </p:nvSpPr>
          <p:spPr>
            <a:xfrm>
              <a:off x="1524000" y="1885950"/>
              <a:ext cx="219075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OWNS</a:t>
              </a:r>
            </a:p>
          </p:txBody>
        </p:sp>
        <p:sp>
          <p:nvSpPr>
            <p:cNvPr id="14" name="TextBox 14"/>
            <p:cNvSpPr txBox="1"/>
            <p:nvPr/>
          </p:nvSpPr>
          <p:spPr>
            <a:xfrm>
              <a:off x="1524000" y="2152650"/>
              <a:ext cx="2190750" cy="285750"/>
            </a:xfrm>
            <a:prstGeom prst="rect">
              <a:avLst/>
            </a:prstGeom>
            <a:noFill/>
            <a:ln>
              <a:noFill/>
            </a:ln>
          </p:spPr>
          <p:txBody>
            <a:bodyPr wrap="square" lIns="0" tIns="31433" rIns="0" bIns="0" anchor="t" anchorCtr="0">
              <a:noAutofit/>
            </a:bodyPr>
            <a:lstStyle/>
            <a:p>
              <a:pPr algn="l"/>
              <a:r>
                <a:rPr lang="en-US" sz="1650" b="1" dirty="0">
                  <a:solidFill>
                    <a:schemeClr val="accent1"/>
                  </a:solidFill>
                  <a:latin typeface="+mn-lt"/>
                  <a:ea typeface="+mn-ea"/>
                  <a:cs typeface="+mn-cs"/>
                </a:rPr>
                <a:t>clients + network</a:t>
              </a:r>
            </a:p>
          </p:txBody>
        </p:sp>
        <p:sp>
          <p:nvSpPr>
            <p:cNvPr id="15" name="Line 15"/>
            <p:cNvSpPr/>
            <p:nvPr/>
          </p:nvSpPr>
          <p:spPr>
            <a:xfrm>
              <a:off x="876300" y="262890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16" name="TextBox 16"/>
            <p:cNvSpPr txBox="1"/>
            <p:nvPr/>
          </p:nvSpPr>
          <p:spPr>
            <a:xfrm>
              <a:off x="876300" y="278130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KEY MODULES</a:t>
              </a:r>
            </a:p>
          </p:txBody>
        </p:sp>
        <p:sp>
          <p:nvSpPr>
            <p:cNvPr id="17" name="TextBox 17"/>
            <p:cNvSpPr txBox="1"/>
            <p:nvPr/>
          </p:nvSpPr>
          <p:spPr>
            <a:xfrm>
              <a:off x="876300" y="3124200"/>
              <a:ext cx="2762250" cy="228600"/>
            </a:xfrm>
            <a:prstGeom prst="rect">
              <a:avLst/>
            </a:prstGeom>
            <a:noFill/>
            <a:ln>
              <a:noFill/>
            </a:ln>
          </p:spPr>
          <p:txBody>
            <a:bodyPr wrap="square" lIns="0" tIns="41910" rIns="0" bIns="0" anchor="t" anchorCtr="0">
              <a:noAutofit/>
            </a:bodyPr>
            <a:lstStyle/>
            <a:p>
              <a:pPr algn="l"/>
              <a:r>
                <a:rPr lang="en-US" sz="1200" dirty="0">
                  <a:solidFill>
                    <a:schemeClr val="dk1"/>
                  </a:solidFill>
                  <a:latin typeface="Consolas"/>
                  <a:ea typeface="Consolas"/>
                  <a:cs typeface="Consolas"/>
                </a:rPr>
                <a:t>connect.ts</a:t>
              </a:r>
            </a:p>
          </p:txBody>
        </p:sp>
        <p:sp>
          <p:nvSpPr>
            <p:cNvPr id="18" name="TextBox 18"/>
            <p:cNvSpPr txBox="1"/>
            <p:nvPr/>
          </p:nvSpPr>
          <p:spPr>
            <a:xfrm>
              <a:off x="876300" y="342900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Producer CLI</a:t>
              </a:r>
            </a:p>
          </p:txBody>
        </p:sp>
        <p:sp>
          <p:nvSpPr>
            <p:cNvPr id="19" name="TextBox 19"/>
            <p:cNvSpPr txBox="1"/>
            <p:nvPr/>
          </p:nvSpPr>
          <p:spPr>
            <a:xfrm>
              <a:off x="876300" y="373380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Transporter / regulator CLI</a:t>
              </a:r>
            </a:p>
          </p:txBody>
        </p:sp>
        <p:sp>
          <p:nvSpPr>
            <p:cNvPr id="20" name="TextBox 20"/>
            <p:cNvSpPr txBox="1"/>
            <p:nvPr/>
          </p:nvSpPr>
          <p:spPr>
            <a:xfrm>
              <a:off x="876300" y="4038600"/>
              <a:ext cx="2762250" cy="228600"/>
            </a:xfrm>
            <a:prstGeom prst="rect">
              <a:avLst/>
            </a:prstGeom>
            <a:noFill/>
            <a:ln>
              <a:noFill/>
            </a:ln>
          </p:spPr>
          <p:txBody>
            <a:bodyPr wrap="square" lIns="0" tIns="25717" rIns="0" bIns="0" anchor="t" anchorCtr="0">
              <a:noAutofit/>
            </a:bodyPr>
            <a:lstStyle/>
            <a:p>
              <a:pPr algn="l"/>
              <a:r>
                <a:rPr lang="en-US" sz="1350" dirty="0">
                  <a:solidFill>
                    <a:schemeClr val="dk1"/>
                  </a:solidFill>
                  <a:latin typeface="+mn-lt"/>
                  <a:ea typeface="+mn-ea"/>
                  <a:cs typeface="+mn-cs"/>
                </a:rPr>
                <a:t>Network lifecycle scripts</a:t>
              </a:r>
            </a:p>
          </p:txBody>
        </p:sp>
        <p:sp>
          <p:nvSpPr>
            <p:cNvPr id="21" name="Line 21"/>
            <p:cNvSpPr/>
            <p:nvPr/>
          </p:nvSpPr>
          <p:spPr>
            <a:xfrm>
              <a:off x="876300" y="4476750"/>
              <a:ext cx="2895600" cy="9525"/>
            </a:xfrm>
            <a:custGeom>
              <a:avLst/>
              <a:gdLst/>
              <a:ahLst/>
              <a:cxnLst/>
              <a:rect l="l" t="t" r="r" b="b"/>
              <a:pathLst>
                <a:path w="2895600" h="9525">
                  <a:moveTo>
                    <a:pt x="0" y="0"/>
                  </a:moveTo>
                  <a:lnTo>
                    <a:pt x="2895600" y="0"/>
                  </a:lnTo>
                </a:path>
              </a:pathLst>
            </a:custGeom>
            <a:noFill/>
            <a:ln w="9525">
              <a:solidFill>
                <a:srgbClr val="CBD5E1"/>
              </a:solidFill>
            </a:ln>
          </p:spPr>
          <p:txBody>
            <a:bodyPr/>
            <a:lstStyle/>
            <a:p>
              <a:endParaRPr lang="en-US"/>
            </a:p>
          </p:txBody>
        </p:sp>
        <p:sp>
          <p:nvSpPr>
            <p:cNvPr id="22" name="TextBox 22"/>
            <p:cNvSpPr txBox="1"/>
            <p:nvPr/>
          </p:nvSpPr>
          <p:spPr>
            <a:xfrm>
              <a:off x="876300" y="4629150"/>
              <a:ext cx="2667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DEMO PROOF</a:t>
              </a:r>
            </a:p>
          </p:txBody>
        </p:sp>
        <p:sp>
          <p:nvSpPr>
            <p:cNvPr id="23" name="TextBox 23"/>
            <p:cNvSpPr txBox="1"/>
            <p:nvPr/>
          </p:nvSpPr>
          <p:spPr>
            <a:xfrm>
              <a:off x="876300" y="4991100"/>
              <a:ext cx="2781300" cy="266700"/>
            </a:xfrm>
            <a:prstGeom prst="rect">
              <a:avLst/>
            </a:prstGeom>
            <a:noFill/>
            <a:ln>
              <a:noFill/>
            </a:ln>
          </p:spPr>
          <p:txBody>
            <a:bodyPr wrap="square" lIns="0" tIns="44768" rIns="0" bIns="0" anchor="t" anchorCtr="0">
              <a:noAutofit/>
            </a:bodyPr>
            <a:lstStyle/>
            <a:p>
              <a:pPr algn="l"/>
              <a:r>
                <a:rPr lang="en-US" sz="1350" b="1" dirty="0">
                  <a:solidFill>
                    <a:schemeClr val="accent1"/>
                  </a:solidFill>
                  <a:latin typeface="+mn-lt"/>
                  <a:ea typeface="+mn-ea"/>
                  <a:cs typeface="+mn-cs"/>
                </a:rPr>
                <a:t>CLIENTS · DELIVERY · RECALL</a:t>
              </a:r>
            </a:p>
          </p:txBody>
        </p:sp>
      </p:grpSp>
      <p:grpSp>
        <p:nvGrpSpPr>
          <p:cNvPr id="55" name="Group 55"/>
          <p:cNvGrpSpPr/>
          <p:nvPr/>
        </p:nvGrpSpPr>
        <p:grpSpPr>
          <a:xfrm>
            <a:off x="4324350" y="1657350"/>
            <a:ext cx="7258050" cy="2019300"/>
            <a:chOff x="4324350" y="1657350"/>
            <a:chExt cx="7258050" cy="2019300"/>
          </a:xfrm>
        </p:grpSpPr>
        <p:sp>
          <p:nvSpPr>
            <p:cNvPr id="25" name="TextBox 25"/>
            <p:cNvSpPr txBox="1"/>
            <p:nvPr/>
          </p:nvSpPr>
          <p:spPr>
            <a:xfrm>
              <a:off x="4324350" y="1657350"/>
              <a:ext cx="381000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IDENTITY + CLIENT PATH</a:t>
              </a:r>
            </a:p>
          </p:txBody>
        </p:sp>
        <p:sp>
          <p:nvSpPr>
            <p:cNvPr id="26" name="Rectangle 26"/>
            <p:cNvSpPr/>
            <p:nvPr/>
          </p:nvSpPr>
          <p:spPr>
            <a:xfrm>
              <a:off x="4324350" y="2076450"/>
              <a:ext cx="1619250" cy="514350"/>
            </a:xfrm>
            <a:prstGeom prst="rect">
              <a:avLst/>
            </a:prstGeom>
            <a:solidFill>
              <a:schemeClr val="accent5"/>
            </a:solidFill>
            <a:ln w="19050">
              <a:solidFill>
                <a:schemeClr val="accent1"/>
              </a:solidFill>
            </a:ln>
          </p:spPr>
          <p:txBody>
            <a:bodyPr/>
            <a:lstStyle/>
            <a:p>
              <a:endParaRPr lang="en-US"/>
            </a:p>
          </p:txBody>
        </p:sp>
        <p:sp>
          <p:nvSpPr>
            <p:cNvPr id="27" name="TextBox 27"/>
            <p:cNvSpPr txBox="1"/>
            <p:nvPr/>
          </p:nvSpPr>
          <p:spPr>
            <a:xfrm>
              <a:off x="4324350" y="2190750"/>
              <a:ext cx="1619250" cy="266700"/>
            </a:xfrm>
            <a:prstGeom prst="rect">
              <a:avLst/>
            </a:prstGeom>
            <a:noFill/>
            <a:ln>
              <a:noFill/>
            </a:ln>
          </p:spPr>
          <p:txBody>
            <a:bodyPr wrap="square" lIns="0" tIns="70485" rIns="0" bIns="0" anchor="t" anchorCtr="0">
              <a:noAutofit/>
            </a:bodyPr>
            <a:lstStyle/>
            <a:p>
              <a:pPr algn="ctr"/>
              <a:r>
                <a:rPr lang="en-US" sz="1200" b="1" dirty="0">
                  <a:solidFill>
                    <a:schemeClr val="accent1"/>
                  </a:solidFill>
                  <a:latin typeface="Consolas"/>
                  <a:ea typeface="Consolas"/>
                  <a:cs typeface="Consolas"/>
                </a:rPr>
                <a:t>connect.ts</a:t>
              </a:r>
            </a:p>
          </p:txBody>
        </p:sp>
        <p:sp>
          <p:nvSpPr>
            <p:cNvPr id="28" name="Line 28"/>
            <p:cNvSpPr/>
            <p:nvPr/>
          </p:nvSpPr>
          <p:spPr>
            <a:xfrm>
              <a:off x="59436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29" name="Polygon 29"/>
            <p:cNvSpPr/>
            <p:nvPr/>
          </p:nvSpPr>
          <p:spPr>
            <a:xfrm>
              <a:off x="61531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30" name="Rectangle 30"/>
            <p:cNvSpPr/>
            <p:nvPr/>
          </p:nvSpPr>
          <p:spPr>
            <a:xfrm>
              <a:off x="6267450" y="2076450"/>
              <a:ext cx="1428750" cy="514350"/>
            </a:xfrm>
            <a:prstGeom prst="rect">
              <a:avLst/>
            </a:prstGeom>
            <a:solidFill>
              <a:schemeClr val="accent5"/>
            </a:solidFill>
            <a:ln w="19050">
              <a:solidFill>
                <a:schemeClr val="accent1"/>
              </a:solidFill>
            </a:ln>
          </p:spPr>
          <p:txBody>
            <a:bodyPr/>
            <a:lstStyle/>
            <a:p>
              <a:endParaRPr lang="en-US"/>
            </a:p>
          </p:txBody>
        </p:sp>
        <p:sp>
          <p:nvSpPr>
            <p:cNvPr id="31" name="TextBox 31"/>
            <p:cNvSpPr txBox="1"/>
            <p:nvPr/>
          </p:nvSpPr>
          <p:spPr>
            <a:xfrm>
              <a:off x="6267450" y="2190750"/>
              <a:ext cx="14287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CA identity</a:t>
              </a:r>
            </a:p>
          </p:txBody>
        </p:sp>
        <p:sp>
          <p:nvSpPr>
            <p:cNvPr id="32" name="Line 32"/>
            <p:cNvSpPr/>
            <p:nvPr/>
          </p:nvSpPr>
          <p:spPr>
            <a:xfrm>
              <a:off x="76962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33" name="Polygon 33"/>
            <p:cNvSpPr/>
            <p:nvPr/>
          </p:nvSpPr>
          <p:spPr>
            <a:xfrm>
              <a:off x="79057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34" name="Rectangle 34"/>
            <p:cNvSpPr/>
            <p:nvPr/>
          </p:nvSpPr>
          <p:spPr>
            <a:xfrm>
              <a:off x="8020050" y="2076450"/>
              <a:ext cx="1581150" cy="514350"/>
            </a:xfrm>
            <a:prstGeom prst="rect">
              <a:avLst/>
            </a:prstGeom>
            <a:solidFill>
              <a:schemeClr val="accent1"/>
            </a:solidFill>
            <a:ln>
              <a:noFill/>
            </a:ln>
          </p:spPr>
          <p:txBody>
            <a:bodyPr/>
            <a:lstStyle/>
            <a:p>
              <a:endParaRPr lang="en-US"/>
            </a:p>
          </p:txBody>
        </p:sp>
        <p:sp>
          <p:nvSpPr>
            <p:cNvPr id="35" name="TextBox 35"/>
            <p:cNvSpPr txBox="1"/>
            <p:nvPr/>
          </p:nvSpPr>
          <p:spPr>
            <a:xfrm>
              <a:off x="8020050" y="2190750"/>
              <a:ext cx="15811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Fabric Gateway</a:t>
              </a:r>
            </a:p>
          </p:txBody>
        </p:sp>
        <p:sp>
          <p:nvSpPr>
            <p:cNvPr id="36" name="Line 36"/>
            <p:cNvSpPr/>
            <p:nvPr/>
          </p:nvSpPr>
          <p:spPr>
            <a:xfrm>
              <a:off x="9601200" y="233362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37" name="Polygon 37"/>
            <p:cNvSpPr/>
            <p:nvPr/>
          </p:nvSpPr>
          <p:spPr>
            <a:xfrm>
              <a:off x="9810750" y="226695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38" name="Rectangle 38"/>
            <p:cNvSpPr/>
            <p:nvPr/>
          </p:nvSpPr>
          <p:spPr>
            <a:xfrm>
              <a:off x="9925050" y="2076450"/>
              <a:ext cx="1657350" cy="514350"/>
            </a:xfrm>
            <a:prstGeom prst="rect">
              <a:avLst/>
            </a:prstGeom>
            <a:solidFill>
              <a:schemeClr val="accent3"/>
            </a:solidFill>
            <a:ln>
              <a:noFill/>
            </a:ln>
          </p:spPr>
          <p:txBody>
            <a:bodyPr/>
            <a:lstStyle/>
            <a:p>
              <a:endParaRPr lang="en-US"/>
            </a:p>
          </p:txBody>
        </p:sp>
        <p:sp>
          <p:nvSpPr>
            <p:cNvPr id="39" name="TextBox 39"/>
            <p:cNvSpPr txBox="1"/>
            <p:nvPr/>
          </p:nvSpPr>
          <p:spPr>
            <a:xfrm>
              <a:off x="9925050" y="219075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role CLI</a:t>
              </a:r>
            </a:p>
          </p:txBody>
        </p:sp>
        <p:sp>
          <p:nvSpPr>
            <p:cNvPr id="40" name="TextBox 40"/>
            <p:cNvSpPr txBox="1"/>
            <p:nvPr/>
          </p:nvSpPr>
          <p:spPr>
            <a:xfrm>
              <a:off x="4324350" y="2838450"/>
              <a:ext cx="3810000" cy="228600"/>
            </a:xfrm>
            <a:prstGeom prst="rect">
              <a:avLst/>
            </a:prstGeom>
            <a:noFill/>
            <a:ln>
              <a:noFill/>
            </a:ln>
          </p:spPr>
          <p:txBody>
            <a:bodyPr wrap="square" lIns="0" tIns="41910" rIns="0" bIns="0" anchor="t" anchorCtr="0">
              <a:noAutofit/>
            </a:bodyPr>
            <a:lstStyle/>
            <a:p>
              <a:pPr algn="l"/>
              <a:r>
                <a:rPr lang="en-US" sz="1200" b="1" dirty="0">
                  <a:solidFill>
                    <a:schemeClr val="accent3"/>
                  </a:solidFill>
                  <a:latin typeface="Consolas"/>
                  <a:ea typeface="Consolas"/>
                  <a:cs typeface="Consolas"/>
                </a:rPr>
                <a:t>NETWORK LIFECYCLE</a:t>
              </a:r>
            </a:p>
          </p:txBody>
        </p:sp>
        <p:sp>
          <p:nvSpPr>
            <p:cNvPr id="41" name="Rectangle 41"/>
            <p:cNvSpPr/>
            <p:nvPr/>
          </p:nvSpPr>
          <p:spPr>
            <a:xfrm>
              <a:off x="4324350" y="3162300"/>
              <a:ext cx="1619250" cy="514350"/>
            </a:xfrm>
            <a:prstGeom prst="rect">
              <a:avLst/>
            </a:prstGeom>
            <a:solidFill>
              <a:schemeClr val="accent5"/>
            </a:solidFill>
            <a:ln w="19050">
              <a:solidFill>
                <a:schemeClr val="accent1"/>
              </a:solidFill>
            </a:ln>
          </p:spPr>
          <p:txBody>
            <a:bodyPr/>
            <a:lstStyle/>
            <a:p>
              <a:endParaRPr lang="en-US"/>
            </a:p>
          </p:txBody>
        </p:sp>
        <p:sp>
          <p:nvSpPr>
            <p:cNvPr id="42" name="TextBox 42"/>
            <p:cNvSpPr txBox="1"/>
            <p:nvPr/>
          </p:nvSpPr>
          <p:spPr>
            <a:xfrm>
              <a:off x="4324350" y="3276600"/>
              <a:ext cx="16192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start network</a:t>
              </a:r>
            </a:p>
          </p:txBody>
        </p:sp>
        <p:sp>
          <p:nvSpPr>
            <p:cNvPr id="43" name="Line 43"/>
            <p:cNvSpPr/>
            <p:nvPr/>
          </p:nvSpPr>
          <p:spPr>
            <a:xfrm>
              <a:off x="59436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4" name="Polygon 44"/>
            <p:cNvSpPr/>
            <p:nvPr/>
          </p:nvSpPr>
          <p:spPr>
            <a:xfrm>
              <a:off x="61531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5" name="Rectangle 45"/>
            <p:cNvSpPr/>
            <p:nvPr/>
          </p:nvSpPr>
          <p:spPr>
            <a:xfrm>
              <a:off x="6267450" y="3162300"/>
              <a:ext cx="1428750" cy="514350"/>
            </a:xfrm>
            <a:prstGeom prst="rect">
              <a:avLst/>
            </a:prstGeom>
            <a:solidFill>
              <a:schemeClr val="accent5"/>
            </a:solidFill>
            <a:ln w="19050">
              <a:solidFill>
                <a:schemeClr val="accent1"/>
              </a:solidFill>
            </a:ln>
          </p:spPr>
          <p:txBody>
            <a:bodyPr/>
            <a:lstStyle/>
            <a:p>
              <a:endParaRPr lang="en-US"/>
            </a:p>
          </p:txBody>
        </p:sp>
        <p:sp>
          <p:nvSpPr>
            <p:cNvPr id="46" name="TextBox 46"/>
            <p:cNvSpPr txBox="1"/>
            <p:nvPr/>
          </p:nvSpPr>
          <p:spPr>
            <a:xfrm>
              <a:off x="6267450" y="3276600"/>
              <a:ext cx="14287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deploy CCaaS</a:t>
              </a:r>
            </a:p>
          </p:txBody>
        </p:sp>
        <p:sp>
          <p:nvSpPr>
            <p:cNvPr id="47" name="Line 47"/>
            <p:cNvSpPr/>
            <p:nvPr/>
          </p:nvSpPr>
          <p:spPr>
            <a:xfrm>
              <a:off x="76962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48" name="Polygon 48"/>
            <p:cNvSpPr/>
            <p:nvPr/>
          </p:nvSpPr>
          <p:spPr>
            <a:xfrm>
              <a:off x="79057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49" name="Rectangle 49"/>
            <p:cNvSpPr/>
            <p:nvPr/>
          </p:nvSpPr>
          <p:spPr>
            <a:xfrm>
              <a:off x="8020050" y="3162300"/>
              <a:ext cx="1581150" cy="514350"/>
            </a:xfrm>
            <a:prstGeom prst="rect">
              <a:avLst/>
            </a:prstGeom>
            <a:solidFill>
              <a:schemeClr val="accent5"/>
            </a:solidFill>
            <a:ln w="19050">
              <a:solidFill>
                <a:schemeClr val="accent1"/>
              </a:solidFill>
            </a:ln>
          </p:spPr>
          <p:txBody>
            <a:bodyPr/>
            <a:lstStyle/>
            <a:p>
              <a:endParaRPr lang="en-US"/>
            </a:p>
          </p:txBody>
        </p:sp>
        <p:sp>
          <p:nvSpPr>
            <p:cNvPr id="50" name="TextBox 50"/>
            <p:cNvSpPr txBox="1"/>
            <p:nvPr/>
          </p:nvSpPr>
          <p:spPr>
            <a:xfrm>
              <a:off x="8020050" y="3276600"/>
              <a:ext cx="1581150" cy="266700"/>
            </a:xfrm>
            <a:prstGeom prst="rect">
              <a:avLst/>
            </a:prstGeom>
            <a:noFill/>
            <a:ln>
              <a:noFill/>
            </a:ln>
          </p:spPr>
          <p:txBody>
            <a:bodyPr wrap="square" lIns="0" tIns="54292" rIns="0" bIns="0" anchor="t" anchorCtr="0">
              <a:noAutofit/>
            </a:bodyPr>
            <a:lstStyle/>
            <a:p>
              <a:pPr algn="ctr"/>
              <a:r>
                <a:rPr lang="en-US" sz="1350" b="1" dirty="0">
                  <a:solidFill>
                    <a:schemeClr val="accent1"/>
                  </a:solidFill>
                  <a:latin typeface="+mn-lt"/>
                  <a:ea typeface="+mn-ea"/>
                  <a:cs typeface="+mn-cs"/>
                </a:rPr>
                <a:t>commit code</a:t>
              </a:r>
            </a:p>
          </p:txBody>
        </p:sp>
        <p:sp>
          <p:nvSpPr>
            <p:cNvPr id="51" name="Line 51"/>
            <p:cNvSpPr/>
            <p:nvPr/>
          </p:nvSpPr>
          <p:spPr>
            <a:xfrm>
              <a:off x="9601200" y="3419475"/>
              <a:ext cx="323850" cy="9525"/>
            </a:xfrm>
            <a:custGeom>
              <a:avLst/>
              <a:gdLst/>
              <a:ahLst/>
              <a:cxnLst/>
              <a:rect l="l" t="t" r="r" b="b"/>
              <a:pathLst>
                <a:path w="323850" h="9525">
                  <a:moveTo>
                    <a:pt x="0" y="0"/>
                  </a:moveTo>
                  <a:lnTo>
                    <a:pt x="323850" y="0"/>
                  </a:lnTo>
                </a:path>
              </a:pathLst>
            </a:custGeom>
            <a:noFill/>
            <a:ln w="28575">
              <a:solidFill>
                <a:schemeClr val="accent1"/>
              </a:solidFill>
            </a:ln>
          </p:spPr>
          <p:txBody>
            <a:bodyPr/>
            <a:lstStyle/>
            <a:p>
              <a:endParaRPr lang="en-US"/>
            </a:p>
          </p:txBody>
        </p:sp>
        <p:sp>
          <p:nvSpPr>
            <p:cNvPr id="52" name="Polygon 52"/>
            <p:cNvSpPr/>
            <p:nvPr/>
          </p:nvSpPr>
          <p:spPr>
            <a:xfrm>
              <a:off x="9810750" y="3352800"/>
              <a:ext cx="114300" cy="133350"/>
            </a:xfrm>
            <a:custGeom>
              <a:avLst/>
              <a:gdLst/>
              <a:ahLst/>
              <a:cxnLst/>
              <a:rect l="l" t="t" r="r" b="b"/>
              <a:pathLst>
                <a:path w="114300" h="133350">
                  <a:moveTo>
                    <a:pt x="114300" y="66675"/>
                  </a:moveTo>
                  <a:lnTo>
                    <a:pt x="0" y="0"/>
                  </a:lnTo>
                  <a:lnTo>
                    <a:pt x="0" y="133350"/>
                  </a:lnTo>
                  <a:close/>
                </a:path>
              </a:pathLst>
            </a:custGeom>
            <a:solidFill>
              <a:schemeClr val="accent1"/>
            </a:solidFill>
            <a:ln>
              <a:noFill/>
            </a:ln>
          </p:spPr>
          <p:txBody>
            <a:bodyPr/>
            <a:lstStyle/>
            <a:p>
              <a:endParaRPr lang="en-US"/>
            </a:p>
          </p:txBody>
        </p:sp>
        <p:sp>
          <p:nvSpPr>
            <p:cNvPr id="53" name="Rectangle 53"/>
            <p:cNvSpPr/>
            <p:nvPr/>
          </p:nvSpPr>
          <p:spPr>
            <a:xfrm>
              <a:off x="9925050" y="3162300"/>
              <a:ext cx="1657350" cy="514350"/>
            </a:xfrm>
            <a:prstGeom prst="rect">
              <a:avLst/>
            </a:prstGeom>
            <a:solidFill>
              <a:schemeClr val="accent3"/>
            </a:solidFill>
            <a:ln>
              <a:noFill/>
            </a:ln>
          </p:spPr>
          <p:txBody>
            <a:bodyPr/>
            <a:lstStyle/>
            <a:p>
              <a:endParaRPr lang="en-US"/>
            </a:p>
          </p:txBody>
        </p:sp>
        <p:sp>
          <p:nvSpPr>
            <p:cNvPr id="54" name="TextBox 54"/>
            <p:cNvSpPr txBox="1"/>
            <p:nvPr/>
          </p:nvSpPr>
          <p:spPr>
            <a:xfrm>
              <a:off x="9925050" y="3276600"/>
              <a:ext cx="1657350" cy="266700"/>
            </a:xfrm>
            <a:prstGeom prst="rect">
              <a:avLst/>
            </a:prstGeom>
            <a:noFill/>
            <a:ln>
              <a:noFill/>
            </a:ln>
          </p:spPr>
          <p:txBody>
            <a:bodyPr wrap="square" lIns="0" tIns="54292" rIns="0" bIns="0" anchor="t" anchorCtr="0">
              <a:noAutofit/>
            </a:bodyPr>
            <a:lstStyle/>
            <a:p>
              <a:pPr algn="ctr"/>
              <a:r>
                <a:rPr lang="en-US" sz="1350" b="1" dirty="0">
                  <a:solidFill>
                    <a:srgbClr val="FFFFFF"/>
                  </a:solidFill>
                  <a:latin typeface="+mn-lt"/>
                  <a:ea typeface="+mn-ea"/>
                  <a:cs typeface="+mn-cs"/>
                </a:rPr>
                <a:t>run demo</a:t>
              </a:r>
            </a:p>
          </p:txBody>
        </p:sp>
      </p:grpSp>
      <p:grpSp>
        <p:nvGrpSpPr>
          <p:cNvPr id="63" name="Group 63"/>
          <p:cNvGrpSpPr/>
          <p:nvPr/>
        </p:nvGrpSpPr>
        <p:grpSpPr>
          <a:xfrm>
            <a:off x="4324350" y="4000500"/>
            <a:ext cx="6972300" cy="1733550"/>
            <a:chOff x="4324350" y="4000500"/>
            <a:chExt cx="6972300" cy="1733550"/>
          </a:xfrm>
        </p:grpSpPr>
        <p:sp>
          <p:nvSpPr>
            <p:cNvPr id="56" name="TextBox 56"/>
            <p:cNvSpPr txBox="1"/>
            <p:nvPr/>
          </p:nvSpPr>
          <p:spPr>
            <a:xfrm>
              <a:off x="4324350" y="4000500"/>
              <a:ext cx="4095750" cy="228600"/>
            </a:xfrm>
            <a:prstGeom prst="rect">
              <a:avLst/>
            </a:prstGeom>
            <a:noFill/>
            <a:ln>
              <a:noFill/>
            </a:ln>
          </p:spPr>
          <p:txBody>
            <a:bodyPr wrap="square" lIns="0" tIns="22860" rIns="0" bIns="0" anchor="t" anchorCtr="0">
              <a:noAutofit/>
            </a:bodyPr>
            <a:lstStyle/>
            <a:p>
              <a:pPr algn="l"/>
              <a:r>
                <a:rPr lang="en-US" sz="1200" b="1" dirty="0">
                  <a:solidFill>
                    <a:schemeClr val="accent3"/>
                  </a:solidFill>
                  <a:latin typeface="Consolas"/>
                  <a:ea typeface="Consolas"/>
                  <a:cs typeface="Consolas"/>
                </a:rPr>
                <a:t>WHAT THE CODE GUARANTEES</a:t>
              </a:r>
            </a:p>
          </p:txBody>
        </p:sp>
        <p:sp>
          <p:nvSpPr>
            <p:cNvPr id="57" name="Freeform 57"/>
            <p:cNvSpPr/>
            <p:nvPr/>
          </p:nvSpPr>
          <p:spPr>
            <a:xfrm>
              <a:off x="4387850" y="45275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58" name="TextBox 58"/>
            <p:cNvSpPr txBox="1"/>
            <p:nvPr/>
          </p:nvSpPr>
          <p:spPr>
            <a:xfrm>
              <a:off x="4819650" y="4457700"/>
              <a:ext cx="6477000" cy="285750"/>
            </a:xfrm>
            <a:prstGeom prst="rect">
              <a:avLst/>
            </a:prstGeom>
            <a:noFill/>
            <a:ln>
              <a:noFill/>
            </a:ln>
          </p:spPr>
          <p:txBody>
            <a:bodyPr wrap="square" lIns="0" tIns="21908" rIns="0" bIns="0" anchor="t" anchorCtr="0">
              <a:noAutofit/>
            </a:bodyPr>
            <a:lstStyle/>
            <a:p>
              <a:pPr algn="l"/>
              <a:r>
                <a:rPr lang="en-US" sz="1650" b="1" dirty="0">
                  <a:solidFill>
                    <a:schemeClr val="dk1"/>
                  </a:solidFill>
                  <a:latin typeface="+mn-lt"/>
                  <a:ea typeface="+mn-ea"/>
                  <a:cs typeface="+mn-cs"/>
                </a:rPr>
                <a:t>Each CLI uses the correct signed identity</a:t>
              </a:r>
            </a:p>
          </p:txBody>
        </p:sp>
        <p:sp>
          <p:nvSpPr>
            <p:cNvPr id="59" name="Freeform 59"/>
            <p:cNvSpPr/>
            <p:nvPr/>
          </p:nvSpPr>
          <p:spPr>
            <a:xfrm>
              <a:off x="4387850" y="50228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60" name="TextBox 60"/>
            <p:cNvSpPr txBox="1"/>
            <p:nvPr/>
          </p:nvSpPr>
          <p:spPr>
            <a:xfrm>
              <a:off x="4819650" y="49530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Network deployment is reproducible</a:t>
              </a:r>
            </a:p>
          </p:txBody>
        </p:sp>
        <p:sp>
          <p:nvSpPr>
            <p:cNvPr id="61" name="Freeform 61"/>
            <p:cNvSpPr/>
            <p:nvPr/>
          </p:nvSpPr>
          <p:spPr>
            <a:xfrm>
              <a:off x="4387850" y="5518150"/>
              <a:ext cx="190500" cy="127000"/>
            </a:xfrm>
            <a:custGeom>
              <a:avLst/>
              <a:gdLst/>
              <a:ahLst/>
              <a:cxnLst/>
              <a:rect l="l" t="t" r="r" b="b"/>
              <a:pathLst>
                <a:path w="190500" h="127000">
                  <a:moveTo>
                    <a:pt x="0" y="63500"/>
                  </a:moveTo>
                  <a:lnTo>
                    <a:pt x="63500" y="127000"/>
                  </a:lnTo>
                  <a:lnTo>
                    <a:pt x="190500" y="0"/>
                  </a:lnTo>
                </a:path>
              </a:pathLst>
            </a:custGeom>
            <a:noFill/>
            <a:ln w="25400">
              <a:solidFill>
                <a:schemeClr val="accent3"/>
              </a:solidFill>
            </a:ln>
          </p:spPr>
          <p:txBody>
            <a:bodyPr/>
            <a:lstStyle/>
            <a:p>
              <a:endParaRPr lang="en-US"/>
            </a:p>
          </p:txBody>
        </p:sp>
        <p:sp>
          <p:nvSpPr>
            <p:cNvPr id="62" name="TextBox 62"/>
            <p:cNvSpPr txBox="1"/>
            <p:nvPr/>
          </p:nvSpPr>
          <p:spPr>
            <a:xfrm>
              <a:off x="4819650" y="5448300"/>
              <a:ext cx="6477000" cy="285750"/>
            </a:xfrm>
            <a:prstGeom prst="rect">
              <a:avLst/>
            </a:prstGeom>
            <a:noFill/>
            <a:ln>
              <a:noFill/>
            </a:ln>
          </p:spPr>
          <p:txBody>
            <a:bodyPr wrap="square" lIns="0" tIns="21907" rIns="0" bIns="0" anchor="t" anchorCtr="0">
              <a:noAutofit/>
            </a:bodyPr>
            <a:lstStyle/>
            <a:p>
              <a:pPr algn="l"/>
              <a:r>
                <a:rPr lang="en-US" sz="1650" b="1" dirty="0">
                  <a:solidFill>
                    <a:schemeClr val="dk1"/>
                  </a:solidFill>
                  <a:latin typeface="+mn-lt"/>
                  <a:ea typeface="+mn-ea"/>
                  <a:cs typeface="+mn-cs"/>
                </a:rPr>
                <a:t>Integration / E2E uses the real Fabric path</a:t>
              </a:r>
            </a:p>
          </p:txBody>
        </p:sp>
      </p:grpSp>
      <p:grpSp>
        <p:nvGrpSpPr>
          <p:cNvPr id="67" name="Group 67"/>
          <p:cNvGrpSpPr/>
          <p:nvPr/>
        </p:nvGrpSpPr>
        <p:grpSpPr>
          <a:xfrm>
            <a:off x="609600" y="5905500"/>
            <a:ext cx="10972800" cy="876300"/>
            <a:chOff x="609600" y="5905500"/>
            <a:chExt cx="10972800" cy="876300"/>
          </a:xfrm>
        </p:grpSpPr>
        <p:sp>
          <p:nvSpPr>
            <p:cNvPr id="64" name="Rectangle 64"/>
            <p:cNvSpPr/>
            <p:nvPr/>
          </p:nvSpPr>
          <p:spPr>
            <a:xfrm>
              <a:off x="609600" y="5905500"/>
              <a:ext cx="10972800" cy="514350"/>
            </a:xfrm>
            <a:prstGeom prst="rect">
              <a:avLst/>
            </a:prstGeom>
            <a:solidFill>
              <a:schemeClr val="accent1"/>
            </a:solidFill>
            <a:ln>
              <a:noFill/>
            </a:ln>
          </p:spPr>
          <p:txBody>
            <a:bodyPr/>
            <a:lstStyle/>
            <a:p>
              <a:endParaRPr lang="en-US"/>
            </a:p>
          </p:txBody>
        </p:sp>
        <p:sp>
          <p:nvSpPr>
            <p:cNvPr id="65" name="TextBox 65"/>
            <p:cNvSpPr txBox="1"/>
            <p:nvPr/>
          </p:nvSpPr>
          <p:spPr>
            <a:xfrm>
              <a:off x="838200" y="6048375"/>
              <a:ext cx="10096500" cy="266700"/>
            </a:xfrm>
            <a:prstGeom prst="rect">
              <a:avLst/>
            </a:prstGeom>
            <a:noFill/>
            <a:ln>
              <a:noFill/>
            </a:ln>
          </p:spPr>
          <p:txBody>
            <a:bodyPr wrap="square" lIns="0" tIns="41910" rIns="0" bIns="0" anchor="t" anchorCtr="0">
              <a:noAutofit/>
            </a:bodyPr>
            <a:lstStyle/>
            <a:p>
              <a:pPr algn="l"/>
              <a:r>
                <a:rPr lang="en-US" sz="1200" b="1" dirty="0">
                  <a:solidFill>
                    <a:srgbClr val="FFFFFF"/>
                  </a:solidFill>
                  <a:latin typeface="Consolas"/>
                  <a:ea typeface="Consolas"/>
                  <a:cs typeface="Consolas"/>
                </a:rPr>
                <a:t>CONNECTS ALL THREE OWNED SUBSYSTEMS IN THE LIVE DEMO</a:t>
              </a:r>
            </a:p>
          </p:txBody>
        </p:sp>
        <p:sp>
          <p:nvSpPr>
            <p:cNvPr id="66" name="TextBox 66"/>
            <p:cNvSpPr txBox="1"/>
            <p:nvPr/>
          </p:nvSpPr>
          <p:spPr>
            <a:xfrm>
              <a:off x="10668000" y="6553200"/>
              <a:ext cx="762000" cy="228600"/>
            </a:xfrm>
            <a:prstGeom prst="rect">
              <a:avLst/>
            </a:prstGeom>
            <a:noFill/>
            <a:ln>
              <a:noFill/>
            </a:ln>
          </p:spPr>
          <p:txBody>
            <a:bodyPr wrap="square" lIns="0" tIns="22860" rIns="0" bIns="0" anchor="t" anchorCtr="0">
              <a:noAutofit/>
            </a:bodyPr>
            <a:lstStyle/>
            <a:p>
              <a:pPr algn="r"/>
              <a:r>
                <a:rPr lang="en-US" sz="1200" dirty="0">
                  <a:solidFill>
                    <a:schemeClr val="accent3"/>
                  </a:solidFill>
                  <a:latin typeface="Consolas"/>
                  <a:ea typeface="Consolas"/>
                  <a:cs typeface="Consolas"/>
                </a:rPr>
                <a:t>07 / 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comp6452_task3_final5">
  <a:themeElements>
    <a:clrScheme name="comp6452_task3_final5">
      <a:dk1>
        <a:srgbClr val="17202A"/>
      </a:dk1>
      <a:lt1>
        <a:srgbClr val="FFFFFF"/>
      </a:lt1>
      <a:dk2>
        <a:srgbClr val="1F497D"/>
      </a:dk2>
      <a:lt2>
        <a:srgbClr val="FFFFFF"/>
      </a:lt2>
      <a:accent1>
        <a:srgbClr val="163B65"/>
      </a:accent1>
      <a:accent2>
        <a:srgbClr val="FF8A00"/>
      </a:accent2>
      <a:accent3>
        <a:srgbClr val="2A7F9E"/>
      </a:accent3>
      <a:accent4>
        <a:srgbClr val="163B65"/>
      </a:accent4>
      <a:accent5>
        <a:srgbClr val="F1F5F9"/>
      </a:accent5>
      <a:accent6>
        <a:srgbClr val="F79646"/>
      </a:accent6>
      <a:hlink>
        <a:srgbClr val="FF8A00"/>
      </a:hlink>
      <a:folHlink>
        <a:srgbClr val="2A7F9E"/>
      </a:folHlink>
    </a:clrScheme>
    <a:fontScheme name="comp6452_task3_final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6452_task3_final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mp6452_task3_final5">
  <a:themeElements>
    <a:clrScheme name="comp6452_task3_final5">
      <a:dk1>
        <a:srgbClr val="17202A"/>
      </a:dk1>
      <a:lt1>
        <a:srgbClr val="FFFFFF"/>
      </a:lt1>
      <a:dk2>
        <a:srgbClr val="1F497D"/>
      </a:dk2>
      <a:lt2>
        <a:srgbClr val="FFFFFF"/>
      </a:lt2>
      <a:accent1>
        <a:srgbClr val="163B65"/>
      </a:accent1>
      <a:accent2>
        <a:srgbClr val="FF8A00"/>
      </a:accent2>
      <a:accent3>
        <a:srgbClr val="2A7F9E"/>
      </a:accent3>
      <a:accent4>
        <a:srgbClr val="163B65"/>
      </a:accent4>
      <a:accent5>
        <a:srgbClr val="F1F5F9"/>
      </a:accent5>
      <a:accent6>
        <a:srgbClr val="F79646"/>
      </a:accent6>
      <a:hlink>
        <a:srgbClr val="FF8A00"/>
      </a:hlink>
      <a:folHlink>
        <a:srgbClr val="2A7F9E"/>
      </a:folHlink>
    </a:clrScheme>
    <a:fontScheme name="comp6452_task3_final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6452_task3_final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1145</Words>
  <Application>Microsoft Macintosh PowerPoint</Application>
  <PresentationFormat>Widescreen</PresentationFormat>
  <Paragraphs>177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Consolas</vt:lpstr>
      <vt:lpstr>comp6452_task3_final5</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Chaoliang Yan</cp:lastModifiedBy>
  <cp:revision>4</cp:revision>
  <dcterms:created xsi:type="dcterms:W3CDTF">2026-07-30T00:48:03Z</dcterms:created>
  <dcterms:modified xsi:type="dcterms:W3CDTF">2026-07-30T00:59:38Z</dcterms:modified>
  <cp:category/>
  <cp:contentStatus/>
  <dc:language/>
</cp:coreProperties>
</file>